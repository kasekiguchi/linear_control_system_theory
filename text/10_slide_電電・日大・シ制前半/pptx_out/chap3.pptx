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app0.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06E"/>
    <a:srgbClr val="272789"/>
    <a:srgbClr val="3333B2"/>
    <a:srgbClr val="21217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p:scale>
          <a:sx n="100" d="100"/>
          <a:sy n="100" d="100"/>
        </p:scale>
        <p:origin x="1880" y="103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442B7B-A148-4B8B-8708-C80EA55FBED4}" type="datetimeFigureOut">
              <a:rPr kumimoji="1" lang="ja-JP" altLang="en-US" smtClean="0"/>
              <a:t>2026/4/13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CED5E3-29A7-4C91-AEE7-3581E4C91C64}" type="slidenum">
              <a:rPr kumimoji="1" lang="ja-JP" altLang="en-US" smtClean="0"/>
              <a:t>‹#›</a:t>
            </a:fld>
            <a:endParaRPr kumimoji="1" lang="ja-JP" altLang="en-US"/>
          </a:p>
        </p:txBody>
      </p:sp>
    </p:spTree>
    <p:extLst>
      <p:ext uri="{BB962C8B-B14F-4D97-AF65-F5344CB8AC3E}">
        <p14:creationId xmlns:p14="http://schemas.microsoft.com/office/powerpoint/2010/main" val="325637662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9293F3-4573-42EA-80FF-3B5D78DC253E}" type="datetime1">
              <a:rPr lang="en-US" altLang="ja-JP" smtClean="0"/>
              <a:t>4/13/2026</a:t>
            </a:fld>
            <a:endParaRPr lang="en-US"/>
          </a:p>
        </p:txBody>
      </p:sp>
      <p:sp>
        <p:nvSpPr>
          <p:cNvPr id="5" name="Footer Placeholder 4"/>
          <p:cNvSpPr>
            <a:spLocks noGrp="1"/>
          </p:cNvSpPr>
          <p:nvPr>
            <p:ph type="ftr" sz="quarter" idx="11"/>
          </p:nvPr>
        </p:nvSpPr>
        <p:spPr/>
        <p:txBody>
          <a:bodyPr/>
          <a:lstStyle/>
          <a:p>
            <a:r>
              <a:rPr lang="zh-TW" altLang="en-US"/>
              <a:t>線形制御理論</a:t>
            </a:r>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661FF4-0095-4E13-A0C6-034645061A45}" type="datetime1">
              <a:rPr lang="en-US" altLang="ja-JP" smtClean="0"/>
              <a:t>4/13/2026</a:t>
            </a:fld>
            <a:endParaRPr lang="en-US"/>
          </a:p>
        </p:txBody>
      </p:sp>
      <p:sp>
        <p:nvSpPr>
          <p:cNvPr id="5" name="Footer Placeholder 4"/>
          <p:cNvSpPr>
            <a:spLocks noGrp="1"/>
          </p:cNvSpPr>
          <p:nvPr>
            <p:ph type="ftr" sz="quarter" idx="11"/>
          </p:nvPr>
        </p:nvSpPr>
        <p:spPr/>
        <p:txBody>
          <a:bodyPr/>
          <a:lstStyle/>
          <a:p>
            <a:r>
              <a:rPr lang="zh-TW" altLang="en-US"/>
              <a:t>線形制御理論</a:t>
            </a:r>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192FBB-1236-43A3-B981-757967DF4185}" type="datetime1">
              <a:rPr lang="en-US" altLang="ja-JP" smtClean="0"/>
              <a:t>4/13/2026</a:t>
            </a:fld>
            <a:endParaRPr lang="en-US"/>
          </a:p>
        </p:txBody>
      </p:sp>
      <p:sp>
        <p:nvSpPr>
          <p:cNvPr id="5" name="Footer Placeholder 4"/>
          <p:cNvSpPr>
            <a:spLocks noGrp="1"/>
          </p:cNvSpPr>
          <p:nvPr>
            <p:ph type="ftr" sz="quarter" idx="11"/>
          </p:nvPr>
        </p:nvSpPr>
        <p:spPr/>
        <p:txBody>
          <a:bodyPr/>
          <a:lstStyle/>
          <a:p>
            <a:r>
              <a:rPr lang="zh-TW" altLang="en-US"/>
              <a:t>線形制御理論</a:t>
            </a:r>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8A4CB3D-656A-4233-83C7-AD5C27923A98}" type="datetime1">
              <a:rPr lang="en-US" altLang="ja-JP" smtClean="0"/>
              <a:t>4/13/2026</a:t>
            </a:fld>
            <a:endParaRPr lang="en-US"/>
          </a:p>
        </p:txBody>
      </p:sp>
      <p:sp>
        <p:nvSpPr>
          <p:cNvPr id="6" name="Footer Placeholder 5"/>
          <p:cNvSpPr>
            <a:spLocks noGrp="1"/>
          </p:cNvSpPr>
          <p:nvPr>
            <p:ph type="ftr" sz="quarter" idx="11"/>
          </p:nvPr>
        </p:nvSpPr>
        <p:spPr/>
        <p:txBody>
          <a:bodyPr/>
          <a:lstStyle/>
          <a:p>
            <a:r>
              <a:rPr lang="zh-TW" altLang="en-US"/>
              <a:t>線形制御理論</a:t>
            </a:r>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3038225-EBFB-4830-9C28-CDD185E88EE6}" type="datetime1">
              <a:rPr lang="en-US" altLang="ja-JP" smtClean="0"/>
              <a:t>4/13/2026</a:t>
            </a:fld>
            <a:endParaRPr lang="en-US"/>
          </a:p>
        </p:txBody>
      </p:sp>
      <p:sp>
        <p:nvSpPr>
          <p:cNvPr id="8" name="Footer Placeholder 7"/>
          <p:cNvSpPr>
            <a:spLocks noGrp="1"/>
          </p:cNvSpPr>
          <p:nvPr>
            <p:ph type="ftr" sz="quarter" idx="11"/>
          </p:nvPr>
        </p:nvSpPr>
        <p:spPr/>
        <p:txBody>
          <a:bodyPr/>
          <a:lstStyle/>
          <a:p>
            <a:r>
              <a:rPr lang="zh-TW" altLang="en-US"/>
              <a:t>線形制御理論</a:t>
            </a:r>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488C0A-C359-4DB7-9E66-ACF2AEB86F5D}" type="datetime1">
              <a:rPr lang="en-US" altLang="ja-JP" smtClean="0"/>
              <a:t>4/13/2026</a:t>
            </a:fld>
            <a:endParaRPr lang="en-US"/>
          </a:p>
        </p:txBody>
      </p:sp>
      <p:sp>
        <p:nvSpPr>
          <p:cNvPr id="4" name="Footer Placeholder 3"/>
          <p:cNvSpPr>
            <a:spLocks noGrp="1"/>
          </p:cNvSpPr>
          <p:nvPr>
            <p:ph type="ftr" sz="quarter" idx="11"/>
          </p:nvPr>
        </p:nvSpPr>
        <p:spPr/>
        <p:txBody>
          <a:bodyPr/>
          <a:lstStyle/>
          <a:p>
            <a:r>
              <a:rPr lang="zh-TW" altLang="en-US"/>
              <a:t>線形制御理論</a:t>
            </a:r>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EFB128-B013-488E-BF15-7A75D0D40503}" type="datetime1">
              <a:rPr lang="en-US" altLang="ja-JP" smtClean="0"/>
              <a:t>4/13/2026</a:t>
            </a:fld>
            <a:endParaRPr lang="en-US"/>
          </a:p>
        </p:txBody>
      </p:sp>
      <p:sp>
        <p:nvSpPr>
          <p:cNvPr id="3" name="Footer Placeholder 2"/>
          <p:cNvSpPr>
            <a:spLocks noGrp="1"/>
          </p:cNvSpPr>
          <p:nvPr>
            <p:ph type="ftr" sz="quarter" idx="11"/>
          </p:nvPr>
        </p:nvSpPr>
        <p:spPr/>
        <p:txBody>
          <a:bodyPr/>
          <a:lstStyle/>
          <a:p>
            <a:r>
              <a:rPr lang="zh-TW" altLang="en-US"/>
              <a:t>線形制御理論</a:t>
            </a:r>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C86EAE6-5C90-4C12-B1A5-3862EDC65FF5}" type="datetime1">
              <a:rPr lang="en-US" altLang="ja-JP" smtClean="0"/>
              <a:t>4/13/2026</a:t>
            </a:fld>
            <a:endParaRPr lang="en-US"/>
          </a:p>
        </p:txBody>
      </p:sp>
      <p:sp>
        <p:nvSpPr>
          <p:cNvPr id="6" name="Footer Placeholder 5"/>
          <p:cNvSpPr>
            <a:spLocks noGrp="1"/>
          </p:cNvSpPr>
          <p:nvPr>
            <p:ph type="ftr" sz="quarter" idx="11"/>
          </p:nvPr>
        </p:nvSpPr>
        <p:spPr/>
        <p:txBody>
          <a:bodyPr/>
          <a:lstStyle/>
          <a:p>
            <a:r>
              <a:rPr lang="zh-TW" altLang="en-US"/>
              <a:t>線形制御理論</a:t>
            </a:r>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0E6D8719-5236-4605-B705-87859B828498}" type="datetime1">
              <a:rPr lang="en-US" altLang="ja-JP" smtClean="0"/>
              <a:t>4/13/2026</a:t>
            </a:fld>
            <a:endParaRPr lang="en-US"/>
          </a:p>
        </p:txBody>
      </p:sp>
      <p:sp>
        <p:nvSpPr>
          <p:cNvPr id="6" name="Footer Placeholder 5"/>
          <p:cNvSpPr>
            <a:spLocks noGrp="1"/>
          </p:cNvSpPr>
          <p:nvPr>
            <p:ph type="ftr" sz="quarter" idx="11"/>
          </p:nvPr>
        </p:nvSpPr>
        <p:spPr/>
        <p:txBody>
          <a:bodyPr/>
          <a:lstStyle/>
          <a:p>
            <a:r>
              <a:rPr lang="zh-TW" altLang="en-US"/>
              <a:t>線形制御理論</a:t>
            </a:r>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68C596-05B8-4382-9CCE-F60BBA494987}" type="datetime1">
              <a:rPr lang="en-US" altLang="ja-JP" smtClean="0"/>
              <a:t>4/13/2026</a:t>
            </a:fld>
            <a:endParaRPr lang="en-US"/>
          </a:p>
        </p:txBody>
      </p:sp>
      <p:sp>
        <p:nvSpPr>
          <p:cNvPr id="5" name="Footer Placeholder 4"/>
          <p:cNvSpPr>
            <a:spLocks noGrp="1"/>
          </p:cNvSpPr>
          <p:nvPr>
            <p:ph type="ftr" sz="quarter" idx="11"/>
          </p:nvPr>
        </p:nvSpPr>
        <p:spPr/>
        <p:txBody>
          <a:bodyPr/>
          <a:lstStyle/>
          <a:p>
            <a:r>
              <a:rPr lang="zh-TW" altLang="en-US"/>
              <a:t>線形制御理論</a:t>
            </a:r>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8AA5AA-B0B4-4A4C-AA82-7A9D909F7384}" type="datetime1">
              <a:rPr lang="en-US" altLang="ja-JP" smtClean="0"/>
              <a:t>4/13/2026</a:t>
            </a:fld>
            <a:endParaRPr lang="en-US"/>
          </a:p>
        </p:txBody>
      </p:sp>
      <p:sp>
        <p:nvSpPr>
          <p:cNvPr id="5" name="Footer Placeholder 4"/>
          <p:cNvSpPr>
            <a:spLocks noGrp="1"/>
          </p:cNvSpPr>
          <p:nvPr>
            <p:ph type="ftr" sz="quarter" idx="11"/>
          </p:nvPr>
        </p:nvSpPr>
        <p:spPr/>
        <p:txBody>
          <a:bodyPr/>
          <a:lstStyle/>
          <a:p>
            <a:r>
              <a:rPr lang="zh-TW" altLang="en-US"/>
              <a:t>線形制御理論</a:t>
            </a:r>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603250"/>
          </a:xfrm>
          <a:prstGeom prst="rect">
            <a:avLst/>
          </a:prstGeom>
          <a:solidFill>
            <a:srgbClr val="3333B2"/>
          </a:solid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33304" y="685800"/>
            <a:ext cx="8959895" cy="40195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4869656"/>
            <a:ext cx="2876550" cy="273844"/>
          </a:xfrm>
          <a:prstGeom prst="rect">
            <a:avLst/>
          </a:prstGeom>
          <a:solidFill>
            <a:srgbClr val="20206E"/>
          </a:solidFill>
        </p:spPr>
        <p:txBody>
          <a:bodyPr vert="horz" lIns="91440" tIns="45720" rIns="91440" bIns="45720" rtlCol="0" anchor="ctr"/>
          <a:lstStyle>
            <a:lvl1pPr algn="l">
              <a:defRPr sz="900">
                <a:solidFill>
                  <a:schemeClr val="bg1"/>
                </a:solidFill>
              </a:defRPr>
            </a:lvl1pPr>
          </a:lstStyle>
          <a:p>
            <a:fld id="{86F0E22D-3E44-4D1D-B29C-735C72E6E855}" type="datetime1">
              <a:rPr lang="en-US" altLang="ja-JP" smtClean="0"/>
              <a:t>4/13/2026</a:t>
            </a:fld>
            <a:endParaRPr lang="en-US" dirty="0"/>
          </a:p>
        </p:txBody>
      </p:sp>
      <p:sp>
        <p:nvSpPr>
          <p:cNvPr id="5" name="Footer Placeholder 4"/>
          <p:cNvSpPr>
            <a:spLocks noGrp="1"/>
          </p:cNvSpPr>
          <p:nvPr>
            <p:ph type="ftr" sz="quarter" idx="3"/>
          </p:nvPr>
        </p:nvSpPr>
        <p:spPr>
          <a:xfrm>
            <a:off x="2876550" y="4868862"/>
            <a:ext cx="3848100" cy="273844"/>
          </a:xfrm>
          <a:prstGeom prst="rect">
            <a:avLst/>
          </a:prstGeom>
          <a:solidFill>
            <a:srgbClr val="272789"/>
          </a:solidFill>
        </p:spPr>
        <p:txBody>
          <a:bodyPr vert="horz" lIns="91440" tIns="45720" rIns="91440" bIns="45720" rtlCol="0" anchor="ctr"/>
          <a:lstStyle>
            <a:lvl1pPr algn="ctr">
              <a:defRPr sz="1200">
                <a:solidFill>
                  <a:schemeClr val="bg1"/>
                </a:solidFill>
                <a:latin typeface="BIZ UDPゴシック" panose="020B0400000000000000" pitchFamily="50" charset="-128"/>
                <a:ea typeface="BIZ UDPゴシック" panose="020B0400000000000000" pitchFamily="50" charset="-128"/>
              </a:defRPr>
            </a:lvl1pPr>
          </a:lstStyle>
          <a:p>
            <a:r>
              <a:rPr lang="zh-TW" altLang="en-US"/>
              <a:t>線形制御理論</a:t>
            </a:r>
            <a:endParaRPr lang="en-US" altLang="ja-JP" dirty="0">
              <a:latin typeface="BIZ UDPゴシック" panose="020B0400000000000000" pitchFamily="50" charset="-128"/>
              <a:ea typeface="BIZ UDPゴシック" panose="020B0400000000000000" pitchFamily="50" charset="-128"/>
            </a:endParaRPr>
          </a:p>
        </p:txBody>
      </p:sp>
      <p:sp>
        <p:nvSpPr>
          <p:cNvPr id="6" name="Slide Number Placeholder 5"/>
          <p:cNvSpPr>
            <a:spLocks noGrp="1"/>
          </p:cNvSpPr>
          <p:nvPr>
            <p:ph type="sldNum" sz="quarter" idx="4"/>
          </p:nvPr>
        </p:nvSpPr>
        <p:spPr>
          <a:xfrm>
            <a:off x="6724650" y="4869655"/>
            <a:ext cx="2387599" cy="273844"/>
          </a:xfrm>
          <a:prstGeom prst="rect">
            <a:avLst/>
          </a:prstGeom>
          <a:solidFill>
            <a:srgbClr val="3333B2"/>
          </a:solidFill>
        </p:spPr>
        <p:txBody>
          <a:bodyPr vert="horz" lIns="91440" tIns="45720" rIns="91440" bIns="45720" rtlCol="0" anchor="ctr"/>
          <a:lstStyle>
            <a:lvl1pPr algn="r">
              <a:defRPr sz="900">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342900" rtl="0" eaLnBrk="1" latinLnBrk="0" hangingPunct="1">
        <a:spcBef>
          <a:spcPct val="0"/>
        </a:spcBef>
        <a:buNone/>
        <a:defRPr sz="3300" kern="1200">
          <a:solidFill>
            <a:schemeClr val="bg1"/>
          </a:solidFill>
          <a:latin typeface="BIZ UDPゴシック" panose="020B0400000000000000" pitchFamily="50" charset="-128"/>
          <a:ea typeface="BIZ UDPゴシック" panose="020B0400000000000000" pitchFamily="50" charset="-128"/>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62000" lnSpcReduction="20000"/>
          </a:bodyPr>
          <a:lstStyle/>
          <a:p>
            <a:pPr marL="0" lvl="0" indent="0">
              <a:buNone/>
            </a:pPr>
            <a:r>
              <a:t>3.1 状態方程式の離散化</a:t>
            </a:r>
          </a:p>
        </p:txBody>
      </p:sp>
      <p:sp>
        <p:nvSpPr>
          <p:cNvPr id="5" name="TextBox 3"/>
          <p:cNvSpPr txBox="1">
            <a:spLocks noGrp="1"/>
          </p:cNvSpPr>
          <p:nvPr>
            <p:ph idx="1"/>
          </p:nvPr>
        </p:nvSpPr>
        <p:spPr>
          <a:xfrm>
            <a:off x="133304" y="685800"/>
            <a:ext cx="4434227" cy="4019549"/>
          </a:xfrm>
          <a:prstGeom prst="rect">
            <a:avLst/>
          </a:prstGeom>
          <a:noFill/>
        </p:spPr>
        <p:txBody>
          <a:bodyPr wrap="square">
            <a:normAutofit fontScale="62000" lnSpcReduction="20000"/>
          </a:bodyPr>
          <a:lstStyle/>
          <a:p>
            <a:pPr marL="0" lvl="0" indent="0" algn="ctr">
              <a:buNone/>
            </a:pPr>
            <a:r>
              <a:t>システムの離散化</a:t>
            </a:r>
          </a:p>
        </p:txBody>
      </p:sp>
      <mc:AlternateContent xmlns:mc="http://schemas.openxmlformats.org/markup-compatibility/2006">
        <mc:Choice xmlns:a14="http://schemas.microsoft.com/office/drawing/2010/main" Requires="a14">
          <p:sp>
            <p:nvSpPr>
              <p:cNvPr id="4" name="Text Placeholder 3"/>
              <p:cNvSpPr>
                <a:spLocks noGrp="1"/>
              </p:cNvSpPr>
              <p:nvPr>
                <p:ph type="body" sz="half" idx="4294967295"/>
              </p:nvPr>
            </p:nvSpPr>
            <p:spPr>
              <a:xfrm>
                <a:off x="0" y="1076325"/>
                <a:ext cx="3008313" cy="3517900"/>
              </a:xfrm>
            </p:spPr>
            <p:txBody>
              <a:bodyPr>
                <a:normAutofit fontScale="62000" lnSpcReduction="20000"/>
              </a:bodyPr>
              <a:lstStyle/>
              <a:p>
                <a:pPr marL="0" lvl="0" indent="0">
                  <a:buNone/>
                </a:pPr>
                <a:r>
                  <a:t>0.5 システム</a:t>
                </a:r>
              </a:p>
              <a:p>
                <a:pPr marL="0" lvl="0" indent="0">
                  <a:buNone/>
                </a:pPr>
                <a14:m>
                  <m:oMathPara xmlns:m="http://schemas.openxmlformats.org/officeDocument/2006/math">
                    <m:oMathParaPr>
                      <m:jc m:val="center"/>
                    </m:oMathParaPr>
                    <m:oMath xmlns:m="http://schemas.openxmlformats.org/officeDocument/2006/math">
                      <m:eqArr>
                        <m:eqArrPr>
                          <m:ctrlPr>
                            <a:rPr>
                              <a:latin typeface="Cambria Math" panose="02040503050406030204" pitchFamily="18" charset="0"/>
                            </a:rPr>
                          </m:ctrlPr>
                        </m:eqArrPr>
                        <m:e>
                          <m:f>
                            <m:fPr>
                              <m:ctrlPr>
                                <a:rPr>
                                  <a:latin typeface="Cambria Math" panose="02040503050406030204" pitchFamily="18" charset="0"/>
                                </a:rPr>
                              </m:ctrlPr>
                            </m:fPr>
                            <m:num>
                              <m:r>
                                <a:rPr>
                                  <a:latin typeface="Cambria Math" panose="02040503050406030204" pitchFamily="18" charset="0"/>
                                </a:rPr>
                                <m:t>𝑑𝑥</m:t>
                              </m:r>
                            </m:num>
                            <m:den>
                              <m:r>
                                <a:rPr>
                                  <a:latin typeface="Cambria Math" panose="02040503050406030204" pitchFamily="18" charset="0"/>
                                </a:rPr>
                                <m:t>𝑑𝑡</m:t>
                              </m:r>
                            </m:den>
                          </m:f>
                          <m:r>
                            <a:rPr>
                              <a:latin typeface="Cambria Math" panose="02040503050406030204" pitchFamily="18" charset="0"/>
                            </a:rPr>
                            <m:t>&amp;=</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𝑐</m:t>
                              </m:r>
                            </m:sub>
                          </m:sSub>
                          <m:r>
                            <a:rPr>
                              <a:latin typeface="Cambria Math" panose="02040503050406030204" pitchFamily="18" charset="0"/>
                            </a:rPr>
                            <m:t>𝑢</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e>
                        <m:e>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)&amp;=</m:t>
                          </m:r>
                          <m:r>
                            <a:rPr>
                              <a:latin typeface="Cambria Math" panose="02040503050406030204" pitchFamily="18" charset="0"/>
                            </a:rPr>
                            <m:t>𝐶𝑥</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𝐷𝑢</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e>
                      </m:eqArr>
                    </m:oMath>
                  </m:oMathPara>
                </a14:m>
                <a:endParaRPr/>
              </a:p>
              <a:p>
                <a:pPr marL="0" lvl="0" indent="0">
                  <a:buNone/>
                </a:pPr>
                <a:r>
                  <a:t>を離散化することを考える．</a:t>
                </a:r>
                <a:br/>
                <a14:m>
                  <m:oMath xmlns:m="http://schemas.openxmlformats.org/officeDocument/2006/math">
                    <m:r>
                      <a:rPr>
                        <a:latin typeface="Cambria Math" panose="02040503050406030204" pitchFamily="18" charset="0"/>
                      </a:rPr>
                      <m:t>𝑇</m:t>
                    </m:r>
                  </m:oMath>
                </a14:m>
                <a:r>
                  <a:t> : サンプリングインターバル</a:t>
                </a:r>
                <a:b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𝑘</m:t>
                        </m:r>
                      </m:sub>
                    </m:sSub>
                  </m:oMath>
                </a14:m>
                <a:r>
                  <a:t> : 時刻</a:t>
                </a:r>
                <a14:m>
                  <m:oMath xmlns:m="http://schemas.openxmlformats.org/officeDocument/2006/math">
                    <m:r>
                      <a:rPr>
                        <a:latin typeface="Cambria Math" panose="02040503050406030204" pitchFamily="18" charset="0"/>
                      </a:rPr>
                      <m:t>𝑘𝑇</m:t>
                    </m:r>
                  </m:oMath>
                </a14:m>
                <a:r>
                  <a:t>における状態</a:t>
                </a:r>
                <a:b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𝑘</m:t>
                        </m:r>
                      </m:sub>
                    </m:sSub>
                  </m:oMath>
                </a14:m>
                <a:r>
                  <a:t> : 時刻</a:t>
                </a:r>
                <a14:m>
                  <m:oMath xmlns:m="http://schemas.openxmlformats.org/officeDocument/2006/math">
                    <m:r>
                      <a:rPr>
                        <a:latin typeface="Cambria Math" panose="02040503050406030204" pitchFamily="18" charset="0"/>
                      </a:rPr>
                      <m:t>𝑘𝑇</m:t>
                    </m:r>
                  </m:oMath>
                </a14:m>
                <a:r>
                  <a:t>における出力</a:t>
                </a:r>
                <a:br/>
                <a:r>
                  <a:t>とし，</a:t>
                </a:r>
                <a:br/>
                <a:r>
                  <a:t>入力</a:t>
                </a:r>
                <a14:m>
                  <m:oMath xmlns:m="http://schemas.openxmlformats.org/officeDocument/2006/math">
                    <m:r>
                      <a:rPr>
                        <a:latin typeface="Cambria Math" panose="02040503050406030204" pitchFamily="18" charset="0"/>
                      </a:rPr>
                      <m:t>𝑢</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oMath>
                </a14:m>
                <a:r>
                  <a:t>は時刻</a:t>
                </a:r>
                <a14:m>
                  <m:oMath xmlns:m="http://schemas.openxmlformats.org/officeDocument/2006/math">
                    <m:r>
                      <a:rPr>
                        <a:latin typeface="Cambria Math" panose="02040503050406030204" pitchFamily="18" charset="0"/>
                      </a:rPr>
                      <m:t>𝑘𝑇</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&lt;(</m:t>
                    </m:r>
                    <m:r>
                      <a:rPr>
                        <a:latin typeface="Cambria Math" panose="02040503050406030204" pitchFamily="18" charset="0"/>
                      </a:rPr>
                      <m:t>𝑘</m:t>
                    </m:r>
                    <m:r>
                      <a:rPr>
                        <a:latin typeface="Cambria Math" panose="02040503050406030204" pitchFamily="18" charset="0"/>
                      </a:rPr>
                      <m:t>+1)</m:t>
                    </m:r>
                    <m:r>
                      <a:rPr>
                        <a:latin typeface="Cambria Math" panose="02040503050406030204" pitchFamily="18" charset="0"/>
                      </a:rPr>
                      <m:t>𝑇</m:t>
                    </m:r>
                  </m:oMath>
                </a14:m>
                <a:r>
                  <a:t>において</a:t>
                </a:r>
                <a14:m>
                  <m:oMath xmlns:m="http://schemas.openxmlformats.org/officeDocument/2006/math">
                    <m:r>
                      <a:rPr>
                        <a:latin typeface="Cambria Math" panose="02040503050406030204" pitchFamily="18" charset="0"/>
                      </a:rPr>
                      <m:t>𝑢</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𝑘</m:t>
                        </m:r>
                      </m:sub>
                    </m:sSub>
                  </m:oMath>
                </a14:m>
                <a:r>
                  <a:t>とする．</a:t>
                </a:r>
                <a:br/>
                <a:r>
                  <a:t>(Fig.1参照)</a:t>
                </a:r>
              </a:p>
              <a:p>
                <a:pPr marL="0" lvl="0" indent="0">
                  <a:buNone/>
                </a:pPr>
                <a:r>
                  <a:t>0.5</a:t>
                </a:r>
              </a:p>
            </p:txBody>
          </p:sp>
        </mc:Choice>
        <mc:Fallback>
          <p:sp>
            <p:nvSpPr>
              <p:cNvPr id="4" name="Text Placeholder 3"/>
              <p:cNvSpPr>
                <a:spLocks noGrp="1" noRot="1" noChangeAspect="1" noMove="1" noResize="1" noEditPoints="1" noAdjustHandles="1" noChangeArrowheads="1" noChangeShapeType="1" noTextEdit="1"/>
              </p:cNvSpPr>
              <p:nvPr>
                <p:ph type="body" sz="half" idx="4294967295"/>
              </p:nvPr>
            </p:nvSpPr>
            <p:spPr>
              <a:xfrm>
                <a:off x="0" y="1076325"/>
                <a:ext cx="3008313" cy="3517900"/>
              </a:xfrm>
              <a:blipFill>
                <a:blip r:embed="rId2"/>
                <a:stretch>
                  <a:fillRect l="-1217" t="-2426" r="-609" b="-347"/>
                </a:stretch>
              </a:blipFill>
            </p:spPr>
            <p:txBody>
              <a:bodyPr>
                <a:normAutofit fontScale="62000" lnSpcReduction="20000"/>
              </a:bodyPr>
              <a:lstStyle/>
              <a:p>
                <a:r>
                  <a:rPr lang="ja-JP" altLang="en-US">
                    <a:noFill/>
                  </a:rPr>
                  <a:t> </a:t>
                </a:r>
              </a:p>
            </p:txBody>
          </p:sp>
        </mc:Fallback>
      </mc:AlternateContent>
      <p:pic>
        <p:nvPicPr>
          <p:cNvPr id="3" name="Picture 1" descr="figures/discretize.png"/>
          <p:cNvPicPr>
            <a:picLocks noGrp="1" noChangeAspect="1"/>
          </p:cNvPicPr>
          <p:nvPr/>
        </p:nvPicPr>
        <p:blipFill>
          <a:blip r:embed="rId3"/>
          <a:stretch>
            <a:fillRect/>
          </a:stretch>
        </p:blipFill>
        <p:spPr bwMode="auto">
          <a:xfrm>
            <a:off x="5156245" y="685800"/>
            <a:ext cx="3439679" cy="4019549"/>
          </a:xfrm>
          <a:prstGeom prst="rect">
            <a:avLst/>
          </a:prstGeom>
          <a:noFill/>
          <a:ln w="9525">
            <a:noFill/>
            <a:headEnd/>
            <a:tailEnd/>
          </a:ln>
        </p:spPr>
      </p:pic>
      <p:sp>
        <p:nvSpPr>
          <p:cNvPr id="6" name="日付プレースホルダー 5">
            <a:extLst>
              <a:ext uri="{FF2B5EF4-FFF2-40B4-BE49-F238E27FC236}">
                <a16:creationId xmlns:a16="http://schemas.microsoft.com/office/drawing/2014/main" id="{4826C38F-D7BA-E84E-784E-48229D244EF1}"/>
              </a:ext>
            </a:extLst>
          </p:cNvPr>
          <p:cNvSpPr>
            <a:spLocks noGrp="1"/>
          </p:cNvSpPr>
          <p:nvPr>
            <p:ph type="dt" sz="half" idx="10"/>
          </p:nvPr>
        </p:nvSpPr>
        <p:spPr/>
        <p:txBody>
          <a:bodyPr>
            <a:normAutofit fontScale="62000" lnSpcReduction="20000"/>
          </a:bodyPr>
          <a:lstStyle/>
          <a:p>
            <a:fld id="{9A31949D-F217-4FB4-9A4C-F0BA74392912}" type="datetime1">
              <a:rPr lang="en-US" altLang="ja-JP" smtClean="0"/>
              <a:t>4/13/2026</a:t>
            </a:fld>
            <a:endParaRPr lang="en-US"/>
          </a:p>
        </p:txBody>
      </p:sp>
      <p:sp>
        <p:nvSpPr>
          <p:cNvPr id="8" name="スライド番号プレースホルダー 7">
            <a:extLst>
              <a:ext uri="{FF2B5EF4-FFF2-40B4-BE49-F238E27FC236}">
                <a16:creationId xmlns:a16="http://schemas.microsoft.com/office/drawing/2014/main" id="{0DEC8497-BACB-CD14-785C-0A737F092727}"/>
              </a:ext>
            </a:extLst>
          </p:cNvPr>
          <p:cNvSpPr>
            <a:spLocks noGrp="1"/>
          </p:cNvSpPr>
          <p:nvPr>
            <p:ph type="sldNum" sz="quarter" idx="12"/>
          </p:nvPr>
        </p:nvSpPr>
        <p:spPr/>
        <p:txBody>
          <a:bodyPr>
            <a:normAutofit fontScale="62000" lnSpcReduction="20000"/>
          </a:bodyPr>
          <a:lstStyle/>
          <a:p>
            <a:fld id="{C5EF2332-01BF-834F-8236-50238282D533}" type="slidenum">
              <a:rPr lang="en-US" smtClean="0"/>
              <a:t>1</a:t>
            </a:fld>
            <a:endParaRPr lang="en-US"/>
          </a:p>
        </p:txBody>
      </p:sp>
      <p:sp>
        <p:nvSpPr>
          <p:cNvPr id="9" name="フッター プレースホルダー 8">
            <a:extLst>
              <a:ext uri="{FF2B5EF4-FFF2-40B4-BE49-F238E27FC236}">
                <a16:creationId xmlns:a16="http://schemas.microsoft.com/office/drawing/2014/main" id="{F345448C-34F4-BCF6-1D24-637487CAC242}"/>
              </a:ext>
            </a:extLst>
          </p:cNvPr>
          <p:cNvSpPr>
            <a:spLocks noGrp="1"/>
          </p:cNvSpPr>
          <p:nvPr>
            <p:ph type="ftr" sz="quarter" idx="11"/>
          </p:nvPr>
        </p:nvSpPr>
        <p:spPr/>
        <p:txBody>
          <a:bodyPr>
            <a:normAutofit fontScale="62000" lnSpcReduction="20000"/>
          </a:bodyPr>
          <a:lstStyle/>
          <a:p>
            <a:r>
              <a:rPr lang="zh-TW" altLang="en-US"/>
              <a:t>線形制御理論</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62000" lnSpcReduction="20000"/>
          </a:bodyPr>
          <a:lstStyle/>
          <a:p>
            <a:pPr marL="0" lvl="0" indent="0">
              <a:buNone/>
            </a:pPr>
            <a:r>
              <a:t>3.1 状態方程式の離散化</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62000" lnSpcReduction="20000"/>
              </a:bodyPr>
              <a:lstStyle/>
              <a:p>
                <a:pPr marL="0" lvl="0" indent="0">
                  <a:buNone/>
                </a:pPr>
                <a:r>
                  <a:t>このようなシステムの</a:t>
                </a:r>
                <a14:m>
                  <m:oMath xmlns:m="http://schemas.openxmlformats.org/officeDocument/2006/math">
                    <m:r>
                      <a:rPr>
                        <a:latin typeface="Cambria Math" panose="02040503050406030204" pitchFamily="18" charset="0"/>
                      </a:rPr>
                      <m:t>𝑇</m:t>
                    </m:r>
                  </m:oMath>
                </a14:m>
                <a:r>
                  <a:t>時間後（１サンプル時間後）の応答は，初期値</a:t>
                </a:r>
                <a14:m>
                  <m:oMath xmlns:m="http://schemas.openxmlformats.org/officeDocument/2006/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𝑘𝑇</m:t>
                    </m:r>
                    <m:r>
                      <a:rPr>
                        <a:latin typeface="Cambria Math" panose="02040503050406030204" pitchFamily="18" charset="0"/>
                      </a:rPr>
                      <m:t>)</m:t>
                    </m:r>
                  </m:oMath>
                </a14:m>
                <a:r>
                  <a:t>,積分区間</a:t>
                </a:r>
                <a14:m>
                  <m:oMath xmlns:m="http://schemas.openxmlformats.org/officeDocument/2006/math">
                    <m:r>
                      <a:rPr>
                        <a:latin typeface="Cambria Math" panose="02040503050406030204" pitchFamily="18" charset="0"/>
                      </a:rPr>
                      <m:t>𝑇</m:t>
                    </m:r>
                  </m:oMath>
                </a14:m>
                <a:r>
                  <a:t>として，入力のある状態方程式の応答</a:t>
                </a:r>
              </a:p>
              <a:p>
                <a:pPr marL="0" lvl="0" indent="0">
                  <a:buNone/>
                </a:pPr>
                <a14:m>
                  <m:oMathPara xmlns:m="http://schemas.openxmlformats.org/officeDocument/2006/math">
                    <m:oMathParaPr>
                      <m:jc m:val="center"/>
                    </m:oMathParaPr>
                    <m:oMath xmlns:m="http://schemas.openxmlformats.org/officeDocument/2006/math">
                      <m:m>
                        <m:mPr>
                          <m:plcHide m:val="on"/>
                          <m:mcs>
                            <m:mc>
                              <m:mcPr>
                                <m:count m:val="1"/>
                                <m:mcJc m:val="center"/>
                              </m:mcPr>
                            </m:mc>
                          </m:mcs>
                          <m:ctrlPr>
                            <a:rPr>
                              <a:latin typeface="Cambria Math" panose="02040503050406030204" pitchFamily="18" charset="0"/>
                            </a:rPr>
                          </m:ctrlPr>
                        </m:mPr>
                        <m:mr>
                          <m:e>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𝐴𝑡</m:t>
                                </m:r>
                              </m:sup>
                            </m:sSup>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0</m:t>
                                </m:r>
                              </m:sub>
                            </m:sSub>
                            <m:r>
                              <a:rPr>
                                <a:latin typeface="Cambria Math" panose="02040503050406030204" pitchFamily="18" charset="0"/>
                              </a:rPr>
                              <m:t>+</m:t>
                            </m:r>
                            <m:nary>
                              <m:naryPr>
                                <m:limLoc m:val="subSup"/>
                                <m:ctrlPr>
                                  <a:rPr i="1">
                                    <a:latin typeface="Cambria Math" panose="02040503050406030204" pitchFamily="18" charset="0"/>
                                  </a:rPr>
                                </m:ctrlPr>
                              </m:naryPr>
                              <m:sub>
                                <m:r>
                                  <a:rPr>
                                    <a:latin typeface="Cambria Math" panose="02040503050406030204" pitchFamily="18" charset="0"/>
                                  </a:rPr>
                                  <m:t>0</m:t>
                                </m:r>
                              </m:sub>
                              <m:sup>
                                <m:r>
                                  <a:rPr>
                                    <a:latin typeface="Cambria Math" panose="02040503050406030204" pitchFamily="18" charset="0"/>
                                  </a:rPr>
                                  <m:t>𝑡</m:t>
                                </m:r>
                              </m:sup>
                              <m:e>
                                <m:sSup>
                                  <m:sSupPr>
                                    <m:ctrlPr>
                                      <a:rPr i="1">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𝜏</m:t>
                                    </m:r>
                                    <m:r>
                                      <a:rPr>
                                        <a:latin typeface="Cambria Math" panose="02040503050406030204" pitchFamily="18" charset="0"/>
                                      </a:rPr>
                                      <m:t>)</m:t>
                                    </m:r>
                                  </m:sup>
                                </m:sSup>
                              </m:e>
                            </m:nary>
                            <m:r>
                              <a:rPr>
                                <a:latin typeface="Cambria Math" panose="02040503050406030204" pitchFamily="18" charset="0"/>
                              </a:rPr>
                              <m:t>𝐵𝑢</m:t>
                            </m:r>
                            <m:r>
                              <a:rPr>
                                <a:latin typeface="Cambria Math" panose="02040503050406030204" pitchFamily="18" charset="0"/>
                              </a:rPr>
                              <m:t>(</m:t>
                            </m:r>
                            <m:r>
                              <a:rPr>
                                <a:latin typeface="Cambria Math" panose="02040503050406030204" pitchFamily="18" charset="0"/>
                              </a:rPr>
                              <m:t>𝜏</m:t>
                            </m:r>
                            <m:r>
                              <a:rPr>
                                <a:latin typeface="Cambria Math" panose="02040503050406030204" pitchFamily="18" charset="0"/>
                              </a:rPr>
                              <m:t>)</m:t>
                            </m:r>
                            <m:r>
                              <a:rPr>
                                <a:latin typeface="Cambria Math" panose="02040503050406030204" pitchFamily="18" charset="0"/>
                              </a:rPr>
                              <m:t>𝑑</m:t>
                            </m:r>
                            <m:r>
                              <a:rPr>
                                <a:latin typeface="Cambria Math" panose="02040503050406030204" pitchFamily="18" charset="0"/>
                              </a:rPr>
                              <m:t>𝜏</m:t>
                            </m:r>
                          </m:e>
                        </m:mr>
                      </m:m>
                    </m:oMath>
                  </m:oMathPara>
                </a14:m>
                <a:endParaRPr/>
              </a:p>
              <a:p>
                <a:pPr marL="0" lvl="0" indent="0">
                  <a:buNone/>
                </a:pPr>
                <a:r>
                  <a:t>を用いれば</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𝑘𝑇</m:t>
                      </m:r>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𝑇</m:t>
                          </m:r>
                        </m:sup>
                      </m:sSup>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𝑘𝑇</m:t>
                      </m:r>
                      <m:r>
                        <a:rPr>
                          <a:latin typeface="Cambria Math" panose="02040503050406030204" pitchFamily="18" charset="0"/>
                        </a:rPr>
                        <m:t>)+</m:t>
                      </m:r>
                      <m:nary>
                        <m:naryPr>
                          <m:limLoc m:val="subSup"/>
                          <m:ctrlPr>
                            <a:rPr i="1">
                              <a:latin typeface="Cambria Math" panose="02040503050406030204" pitchFamily="18" charset="0"/>
                            </a:rPr>
                          </m:ctrlPr>
                        </m:naryPr>
                        <m:sub>
                          <m:r>
                            <a:rPr>
                              <a:latin typeface="Cambria Math" panose="02040503050406030204" pitchFamily="18" charset="0"/>
                            </a:rPr>
                            <m:t>0</m:t>
                          </m:r>
                        </m:sub>
                        <m:sup>
                          <m:r>
                            <a:rPr>
                              <a:latin typeface="Cambria Math" panose="02040503050406030204" pitchFamily="18" charset="0"/>
                            </a:rPr>
                            <m:t>𝑇</m:t>
                          </m:r>
                        </m:sup>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𝜏</m:t>
                              </m:r>
                              <m:r>
                                <a:rPr>
                                  <a:latin typeface="Cambria Math" panose="02040503050406030204" pitchFamily="18" charset="0"/>
                                </a:rPr>
                                <m:t>)</m:t>
                              </m:r>
                            </m:sup>
                          </m:sSup>
                        </m:e>
                      </m:nary>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𝑐</m:t>
                          </m:r>
                        </m:sub>
                      </m:sSub>
                      <m:r>
                        <a:rPr>
                          <a:latin typeface="Cambria Math" panose="02040503050406030204" pitchFamily="18" charset="0"/>
                        </a:rPr>
                        <m:t>𝑢</m:t>
                      </m:r>
                      <m:r>
                        <a:rPr>
                          <a:latin typeface="Cambria Math" panose="02040503050406030204" pitchFamily="18" charset="0"/>
                        </a:rPr>
                        <m:t>(</m:t>
                      </m:r>
                      <m:r>
                        <a:rPr>
                          <a:latin typeface="Cambria Math" panose="02040503050406030204" pitchFamily="18" charset="0"/>
                        </a:rPr>
                        <m:t>𝑘𝑇</m:t>
                      </m:r>
                      <m:r>
                        <a:rPr>
                          <a:latin typeface="Cambria Math" panose="02040503050406030204" pitchFamily="18" charset="0"/>
                        </a:rPr>
                        <m:t>+</m:t>
                      </m:r>
                      <m:r>
                        <a:rPr>
                          <a:latin typeface="Cambria Math" panose="02040503050406030204" pitchFamily="18" charset="0"/>
                        </a:rPr>
                        <m:t>𝜏</m:t>
                      </m:r>
                      <m:r>
                        <a:rPr>
                          <a:latin typeface="Cambria Math" panose="02040503050406030204" pitchFamily="18" charset="0"/>
                        </a:rPr>
                        <m:t>)</m:t>
                      </m:r>
                      <m:r>
                        <a:rPr>
                          <a:latin typeface="Cambria Math" panose="02040503050406030204" pitchFamily="18" charset="0"/>
                        </a:rPr>
                        <m:t>𝑑</m:t>
                      </m:r>
                      <m:r>
                        <a:rPr>
                          <a:latin typeface="Cambria Math" panose="02040503050406030204" pitchFamily="18" charset="0"/>
                        </a:rPr>
                        <m:t>𝜏</m:t>
                      </m:r>
                    </m:oMath>
                  </m:oMathPara>
                </a14:m>
                <a:endParaRPr/>
              </a:p>
              <a:p>
                <a:pPr marL="0" lvl="0" indent="0">
                  <a:buNone/>
                </a:pPr>
                <a:r>
                  <a:t>と表される．ここで仮定より</a:t>
                </a:r>
                <a14:m>
                  <m:oMath xmlns:m="http://schemas.openxmlformats.org/officeDocument/2006/math">
                    <m:r>
                      <a:rPr>
                        <a:latin typeface="Cambria Math" panose="02040503050406030204" pitchFamily="18" charset="0"/>
                      </a:rPr>
                      <m:t>𝑢</m:t>
                    </m:r>
                    <m:r>
                      <a:rPr>
                        <a:latin typeface="Cambria Math" panose="02040503050406030204" pitchFamily="18" charset="0"/>
                      </a:rPr>
                      <m:t>(</m:t>
                    </m:r>
                    <m:r>
                      <a:rPr>
                        <a:latin typeface="Cambria Math" panose="02040503050406030204" pitchFamily="18" charset="0"/>
                      </a:rPr>
                      <m:t>𝑘𝑇</m:t>
                    </m:r>
                    <m:r>
                      <a:rPr>
                        <a:latin typeface="Cambria Math" panose="02040503050406030204" pitchFamily="18" charset="0"/>
                      </a:rPr>
                      <m:t>+</m:t>
                    </m:r>
                    <m:r>
                      <a:rPr>
                        <a:latin typeface="Cambria Math" panose="02040503050406030204" pitchFamily="18" charset="0"/>
                      </a:rPr>
                      <m:t>𝜏</m:t>
                    </m:r>
                    <m:r>
                      <a:rPr>
                        <a:latin typeface="Cambria Math" panose="02040503050406030204" pitchFamily="18" charset="0"/>
                      </a:rPr>
                      <m:t>)</m:t>
                    </m:r>
                  </m:oMath>
                </a14:m>
                <a:r>
                  <a:t>, </a:t>
                </a:r>
                <a14:m>
                  <m:oMath xmlns:m="http://schemas.openxmlformats.org/officeDocument/2006/math">
                    <m:r>
                      <a:rPr>
                        <a:latin typeface="Cambria Math" panose="02040503050406030204" pitchFamily="18" charset="0"/>
                      </a:rPr>
                      <m:t>(0≤</m:t>
                    </m:r>
                    <m:r>
                      <a:rPr>
                        <a:latin typeface="Cambria Math" panose="02040503050406030204" pitchFamily="18" charset="0"/>
                      </a:rPr>
                      <m:t>𝜏</m:t>
                    </m:r>
                    <m:r>
                      <a:rPr>
                        <a:latin typeface="Cambria Math" panose="02040503050406030204" pitchFamily="18" charset="0"/>
                      </a:rPr>
                      <m:t>&lt;</m:t>
                    </m:r>
                    <m:r>
                      <a:rPr>
                        <a:latin typeface="Cambria Math" panose="02040503050406030204" pitchFamily="18" charset="0"/>
                      </a:rPr>
                      <m:t>𝑇</m:t>
                    </m:r>
                    <m:r>
                      <a:rPr>
                        <a:latin typeface="Cambria Math" panose="02040503050406030204" pitchFamily="18" charset="0"/>
                      </a:rPr>
                      <m:t>)</m:t>
                    </m:r>
                  </m:oMath>
                </a14:m>
                <a:r>
                  <a:t>は一定値</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𝑘</m:t>
                        </m:r>
                      </m:sub>
                    </m:sSub>
                  </m:oMath>
                </a14:m>
                <a:r>
                  <a:t>であるから， 離散化されたシステムの状態方程式と出力方程式は</a:t>
                </a:r>
              </a:p>
              <a:p>
                <a:pPr marL="0" lvl="0" indent="0">
                  <a:buNone/>
                </a:pPr>
                <a14:m>
                  <m:oMathPara xmlns:m="http://schemas.openxmlformats.org/officeDocument/2006/math">
                    <m:oMathParaPr>
                      <m:jc m:val="center"/>
                    </m:oMathParaPr>
                    <m:oMath xmlns:m="http://schemas.openxmlformats.org/officeDocument/2006/math">
                      <m:eqArr>
                        <m:eqArrPr>
                          <m:ctrlPr>
                            <a:rPr>
                              <a:latin typeface="Cambria Math" panose="02040503050406030204" pitchFamily="18" charset="0"/>
                            </a:rPr>
                          </m:ctrlPr>
                        </m:eqArrPr>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𝑘</m:t>
                              </m:r>
                              <m:r>
                                <a:rPr>
                                  <a:latin typeface="Cambria Math" panose="02040503050406030204" pitchFamily="18" charset="0"/>
                                </a:rPr>
                                <m:t>+1</m:t>
                              </m:r>
                            </m:sub>
                          </m:sSub>
                          <m:r>
                            <a:rPr>
                              <a:latin typeface="Cambria Math" panose="02040503050406030204" pitchFamily="18" charset="0"/>
                            </a:rPr>
                            <m:t>&amp;=</m:t>
                          </m:r>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𝑇</m:t>
                              </m:r>
                            </m:sup>
                          </m:sSup>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𝑘</m:t>
                              </m:r>
                            </m:sub>
                          </m:sSub>
                          <m:r>
                            <a:rPr>
                              <a:latin typeface="Cambria Math" panose="02040503050406030204" pitchFamily="18" charset="0"/>
                            </a:rPr>
                            <m:t>+</m:t>
                          </m:r>
                          <m:d>
                            <m:dPr>
                              <m:ctrlPr>
                                <a:rPr i="1">
                                  <a:latin typeface="Cambria Math" panose="02040503050406030204" pitchFamily="18" charset="0"/>
                                </a:rPr>
                              </m:ctrlPr>
                            </m:dPr>
                            <m:e>
                              <m:nary>
                                <m:naryPr>
                                  <m:limLoc m:val="subSup"/>
                                  <m:ctrlPr>
                                    <a:rPr i="1">
                                      <a:latin typeface="Cambria Math" panose="02040503050406030204" pitchFamily="18" charset="0"/>
                                    </a:rPr>
                                  </m:ctrlPr>
                                </m:naryPr>
                                <m:sub>
                                  <m:r>
                                    <a:rPr>
                                      <a:latin typeface="Cambria Math" panose="02040503050406030204" pitchFamily="18" charset="0"/>
                                    </a:rPr>
                                    <m:t>0</m:t>
                                  </m:r>
                                </m:sub>
                                <m:sup>
                                  <m:r>
                                    <a:rPr>
                                      <a:latin typeface="Cambria Math" panose="02040503050406030204" pitchFamily="18" charset="0"/>
                                    </a:rPr>
                                    <m:t>𝑇</m:t>
                                  </m:r>
                                </m:sup>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𝜏</m:t>
                                      </m:r>
                                      <m:r>
                                        <a:rPr>
                                          <a:latin typeface="Cambria Math" panose="02040503050406030204" pitchFamily="18" charset="0"/>
                                        </a:rPr>
                                        <m:t>)</m:t>
                                      </m:r>
                                    </m:sup>
                                  </m:sSup>
                                </m:e>
                              </m:nary>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𝑐</m:t>
                                  </m:r>
                                </m:sub>
                              </m:sSub>
                              <m:r>
                                <a:rPr>
                                  <a:latin typeface="Cambria Math" panose="02040503050406030204" pitchFamily="18" charset="0"/>
                                </a:rPr>
                                <m:t>𝑑</m:t>
                              </m:r>
                              <m:r>
                                <a:rPr>
                                  <a:latin typeface="Cambria Math" panose="02040503050406030204" pitchFamily="18" charset="0"/>
                                </a:rPr>
                                <m:t>𝜏</m:t>
                              </m:r>
                            </m:e>
                          </m:d>
                          <m:sSub>
                            <m:sSubPr>
                              <m:ctrlPr>
                                <a:rPr i="1">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𝑘</m:t>
                              </m:r>
                            </m:sub>
                          </m:sSub>
                        </m:e>
                        <m:e>
                          <m:r>
                            <a:rPr>
                              <a:latin typeface="Cambria Math" panose="02040503050406030204" pitchFamily="18" charset="0"/>
                            </a:rPr>
                            <m:t>&amp;=</m:t>
                          </m:r>
                          <m:r>
                            <a:rPr>
                              <a:latin typeface="Cambria Math" panose="02040503050406030204" pitchFamily="18" charset="0"/>
                            </a:rPr>
                            <m:t>𝐴</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𝑘</m:t>
                              </m:r>
                            </m:sub>
                          </m:sSub>
                          <m:r>
                            <a:rPr>
                              <a:latin typeface="Cambria Math" panose="02040503050406030204" pitchFamily="18" charset="0"/>
                            </a:rPr>
                            <m:t>+</m:t>
                          </m:r>
                          <m:r>
                            <a:rPr>
                              <a:latin typeface="Cambria Math" panose="02040503050406030204" pitchFamily="18" charset="0"/>
                            </a:rPr>
                            <m:t>𝐵</m:t>
                          </m:r>
                          <m:sSub>
                            <m:sSubPr>
                              <m:ctrlPr>
                                <a:rPr i="1">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𝑘</m:t>
                              </m:r>
                            </m:sub>
                          </m:sSub>
                        </m:e>
                        <m:e>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𝑘</m:t>
                              </m:r>
                            </m:sub>
                          </m:sSub>
                          <m:r>
                            <a:rPr>
                              <a:latin typeface="Cambria Math" panose="02040503050406030204" pitchFamily="18" charset="0"/>
                            </a:rPr>
                            <m:t>&amp;=</m:t>
                          </m:r>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𝑘</m:t>
                              </m:r>
                            </m:sub>
                          </m:sSub>
                          <m:r>
                            <a:rPr>
                              <a:latin typeface="Cambria Math" panose="02040503050406030204" pitchFamily="18" charset="0"/>
                            </a:rPr>
                            <m:t>+</m:t>
                          </m:r>
                          <m:r>
                            <a:rPr>
                              <a:latin typeface="Cambria Math" panose="02040503050406030204" pitchFamily="18" charset="0"/>
                            </a:rPr>
                            <m:t>𝐷</m:t>
                          </m:r>
                          <m:sSub>
                            <m:sSubPr>
                              <m:ctrlPr>
                                <a:rPr i="1">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𝑘</m:t>
                              </m:r>
                            </m:sub>
                          </m:sSub>
                        </m:e>
                      </m:eqArr>
                    </m:oMath>
                  </m:oMathPara>
                </a14:m>
                <a:endParaRPr/>
              </a:p>
              <a:p>
                <a:pPr marL="0" lvl="0" indent="0">
                  <a:buNone/>
                </a:pPr>
                <a:r>
                  <a:t>となる．</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76" t="-2124"/>
                </a:stretch>
              </a:blipFill>
            </p:spPr>
            <p:txBody>
              <a:bodyPr>
                <a:normAutofit fontScale="62000" lnSpcReduction="20000"/>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37480CA4-580C-9200-8FAC-3E4EFB8EA72F}"/>
              </a:ext>
            </a:extLst>
          </p:cNvPr>
          <p:cNvSpPr>
            <a:spLocks noGrp="1"/>
          </p:cNvSpPr>
          <p:nvPr>
            <p:ph type="dt" sz="half" idx="10"/>
          </p:nvPr>
        </p:nvSpPr>
        <p:spPr/>
        <p:txBody>
          <a:bodyPr>
            <a:normAutofit fontScale="62000" lnSpcReduction="20000"/>
          </a:bodyPr>
          <a:lstStyle/>
          <a:p>
            <a:fld id="{1DF34678-22A6-4978-8AC3-5B361F892908}" type="datetime1">
              <a:rPr lang="en-US" altLang="ja-JP" smtClean="0"/>
              <a:t>4/13/2026</a:t>
            </a:fld>
            <a:endParaRPr lang="en-US"/>
          </a:p>
        </p:txBody>
      </p:sp>
      <p:sp>
        <p:nvSpPr>
          <p:cNvPr id="6" name="スライド番号プレースホルダー 5">
            <a:extLst>
              <a:ext uri="{FF2B5EF4-FFF2-40B4-BE49-F238E27FC236}">
                <a16:creationId xmlns:a16="http://schemas.microsoft.com/office/drawing/2014/main" id="{8CC6C56C-769E-62E6-A756-136B8842A3F2}"/>
              </a:ext>
            </a:extLst>
          </p:cNvPr>
          <p:cNvSpPr>
            <a:spLocks noGrp="1"/>
          </p:cNvSpPr>
          <p:nvPr>
            <p:ph type="sldNum" sz="quarter" idx="12"/>
          </p:nvPr>
        </p:nvSpPr>
        <p:spPr/>
        <p:txBody>
          <a:bodyPr>
            <a:normAutofit fontScale="62000" lnSpcReduction="20000"/>
          </a:bodyPr>
          <a:lstStyle/>
          <a:p>
            <a:fld id="{C5EF2332-01BF-834F-8236-50238282D533}" type="slidenum">
              <a:rPr lang="en-US" smtClean="0"/>
              <a:t>2</a:t>
            </a:fld>
            <a:endParaRPr lang="en-US"/>
          </a:p>
        </p:txBody>
      </p:sp>
      <p:sp>
        <p:nvSpPr>
          <p:cNvPr id="7" name="フッター プレースホルダー 6">
            <a:extLst>
              <a:ext uri="{FF2B5EF4-FFF2-40B4-BE49-F238E27FC236}">
                <a16:creationId xmlns:a16="http://schemas.microsoft.com/office/drawing/2014/main" id="{7C3507A8-B222-F14E-662D-807136646D60}"/>
              </a:ext>
            </a:extLst>
          </p:cNvPr>
          <p:cNvSpPr>
            <a:spLocks noGrp="1"/>
          </p:cNvSpPr>
          <p:nvPr>
            <p:ph type="ftr" sz="quarter" idx="11"/>
          </p:nvPr>
        </p:nvSpPr>
        <p:spPr/>
        <p:txBody>
          <a:bodyPr>
            <a:normAutofit fontScale="62000" lnSpcReduction="20000"/>
          </a:bodyPr>
          <a:lstStyle/>
          <a:p>
            <a:r>
              <a:rPr lang="zh-TW" altLang="en-US"/>
              <a:t>線形制御理論</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62000" lnSpcReduction="20000"/>
          </a:bodyPr>
          <a:lstStyle/>
          <a:p>
            <a:pPr marL="0" lvl="0" indent="0">
              <a:buNone/>
            </a:pPr>
            <a:r>
              <a:t>3.1 状態方程式の離散化</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62000" lnSpcReduction="20000"/>
              </a:bodyPr>
              <a:lstStyle/>
              <a:p>
                <a:pPr marL="0" lvl="0" indent="0">
                  <a:buNone/>
                </a:pPr>
                <a:r>
                  <a:t>いま</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oMath>
                </a14:m>
                <a:r>
                  <a:t>の固有値を</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𝑐𝑛</m:t>
                        </m:r>
                      </m:sub>
                    </m:sSub>
                  </m:oMath>
                </a14:m>
                <a:r>
                  <a:t>とし，正則な複素行列</a:t>
                </a:r>
                <a14:m>
                  <m:oMath xmlns:m="http://schemas.openxmlformats.org/officeDocument/2006/math">
                    <m:r>
                      <a:rPr>
                        <a:latin typeface="Cambria Math" panose="02040503050406030204" pitchFamily="18" charset="0"/>
                      </a:rPr>
                      <m:t>𝑆</m:t>
                    </m:r>
                  </m:oMath>
                </a14:m>
                <a:r>
                  <a:t>を</a:t>
                </a:r>
              </a:p>
              <a:p>
                <a:pPr marL="0" lvl="0" indent="0">
                  <a:buNone/>
                </a:pPr>
                <a14:m>
                  <m:oMathPara xmlns:m="http://schemas.openxmlformats.org/officeDocument/2006/math">
                    <m:oMathParaPr>
                      <m:jc m:val="center"/>
                    </m:oMathParaPr>
                    <m:oMath xmlns:m="http://schemas.openxmlformats.org/officeDocument/2006/math">
                      <m:eqArr>
                        <m:eqArrPr>
                          <m:ctrlPr>
                            <a:rPr>
                              <a:latin typeface="Cambria Math" panose="02040503050406030204" pitchFamily="18" charset="0"/>
                            </a:rPr>
                          </m:ctrlPr>
                        </m:eqArrPr>
                        <m:e>
                          <m:sSup>
                            <m:sSupPr>
                              <m:ctrlPr>
                                <a:rPr>
                                  <a:latin typeface="Cambria Math" panose="02040503050406030204" pitchFamily="18" charset="0"/>
                                </a:rPr>
                              </m:ctrlPr>
                            </m:sSupPr>
                            <m:e>
                              <m:r>
                                <a:rPr>
                                  <a:latin typeface="Cambria Math" panose="02040503050406030204" pitchFamily="18" charset="0"/>
                                </a:rPr>
                                <m:t>𝑆</m:t>
                              </m:r>
                            </m:e>
                            <m:sup>
                              <m:r>
                                <a:rPr>
                                  <a:latin typeface="Cambria Math" panose="02040503050406030204" pitchFamily="18" charset="0"/>
                                </a:rPr>
                                <m:t>−1</m:t>
                              </m:r>
                            </m:sup>
                          </m:sSup>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𝑆</m:t>
                          </m:r>
                          <m:r>
                            <a:rPr>
                              <a:latin typeface="Cambria Math" panose="02040503050406030204" pitchFamily="18" charset="0"/>
                            </a:rPr>
                            <m:t>&amp;=</m:t>
                          </m:r>
                          <m:d>
                            <m:dPr>
                              <m:ctrlPr>
                                <a:rPr i="1">
                                  <a:latin typeface="Cambria Math" panose="02040503050406030204" pitchFamily="18" charset="0"/>
                                </a:rPr>
                              </m:ctrlPr>
                            </m:dPr>
                            <m:e>
                              <m:m>
                                <m:mPr>
                                  <m:plcHide m:val="on"/>
                                  <m:mcs>
                                    <m:mc>
                                      <m:mcPr>
                                        <m:count m:val="4"/>
                                        <m:mcJc m:val="center"/>
                                      </m:mcPr>
                                    </m:mc>
                                  </m:mcs>
                                  <m:ctrlPr>
                                    <a:rPr i="1">
                                      <a:latin typeface="Cambria Math" panose="02040503050406030204" pitchFamily="18" charset="0"/>
                                    </a:rPr>
                                  </m:ctrlPr>
                                </m:mPr>
                                <m:mr>
                                  <m:e>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1</m:t>
                                        </m:r>
                                      </m:sub>
                                    </m:sSub>
                                  </m:e>
                                  <m:e>
                                    <m:r>
                                      <a:rPr>
                                        <a:latin typeface="Cambria Math" panose="02040503050406030204" pitchFamily="18" charset="0"/>
                                      </a:rPr>
                                      <m:t>0</m:t>
                                    </m:r>
                                  </m:e>
                                  <m:e>
                                    <m:r>
                                      <a:rPr>
                                        <a:latin typeface="Cambria Math" panose="02040503050406030204" pitchFamily="18" charset="0"/>
                                      </a:rPr>
                                      <m:t>⋯</m:t>
                                    </m:r>
                                  </m:e>
                                  <m:e>
                                    <m:r>
                                      <a:rPr>
                                        <a:latin typeface="Cambria Math" panose="02040503050406030204" pitchFamily="18" charset="0"/>
                                      </a:rPr>
                                      <m:t>0</m:t>
                                    </m:r>
                                  </m:e>
                                </m:mr>
                                <m:mr>
                                  <m:e>
                                    <m:r>
                                      <a:rPr>
                                        <a:latin typeface="Cambria Math" panose="02040503050406030204" pitchFamily="18" charset="0"/>
                                      </a:rPr>
                                      <m:t>0</m:t>
                                    </m:r>
                                  </m:e>
                                  <m:e>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2</m:t>
                                        </m:r>
                                      </m:sub>
                                    </m:sSub>
                                  </m:e>
                                  <m:e/>
                                  <m:e>
                                    <m:r>
                                      <a:rPr>
                                        <a:latin typeface="Cambria Math" panose="02040503050406030204" pitchFamily="18" charset="0"/>
                                      </a:rPr>
                                      <m:t>0</m:t>
                                    </m:r>
                                  </m:e>
                                </m:mr>
                                <m:mr>
                                  <m:e>
                                    <m:r>
                                      <a:rPr>
                                        <a:latin typeface="Cambria Math" panose="02040503050406030204" pitchFamily="18" charset="0"/>
                                      </a:rPr>
                                      <m:t>⋮</m:t>
                                    </m:r>
                                  </m:e>
                                  <m:e/>
                                  <m:e>
                                    <m:r>
                                      <a:rPr>
                                        <a:latin typeface="Cambria Math" panose="02040503050406030204" pitchFamily="18" charset="0"/>
                                      </a:rPr>
                                      <m:t>⋱</m:t>
                                    </m:r>
                                  </m:e>
                                  <m:e/>
                                </m:mr>
                                <m:mr>
                                  <m:e>
                                    <m:r>
                                      <a:rPr>
                                        <a:latin typeface="Cambria Math" panose="02040503050406030204" pitchFamily="18" charset="0"/>
                                      </a:rPr>
                                      <m:t>0</m:t>
                                    </m:r>
                                  </m:e>
                                  <m:e>
                                    <m:r>
                                      <a:rPr>
                                        <a:latin typeface="Cambria Math" panose="02040503050406030204" pitchFamily="18" charset="0"/>
                                      </a:rPr>
                                      <m:t>⋯</m:t>
                                    </m:r>
                                  </m:e>
                                  <m:e/>
                                  <m:e>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𝑐𝑛</m:t>
                                        </m:r>
                                      </m:sub>
                                    </m:sSub>
                                  </m:e>
                                </m:mr>
                              </m:m>
                            </m:e>
                          </m:d>
                        </m:e>
                        <m:e>
                          <m:r>
                            <a:rPr>
                              <a:latin typeface="Cambria Math" panose="02040503050406030204" pitchFamily="18" charset="0"/>
                            </a:rPr>
                            <m:t>&amp;=</m:t>
                          </m:r>
                          <m:r>
                            <m:rPr>
                              <m:sty m:val="p"/>
                            </m:rPr>
                            <a:rPr>
                              <a:latin typeface="Cambria Math" panose="02040503050406030204" pitchFamily="18" charset="0"/>
                            </a:rPr>
                            <m:t>Λ</m:t>
                          </m:r>
                        </m:e>
                      </m:eqArr>
                    </m:oMath>
                  </m:oMathPara>
                </a14:m>
                <a:endParaRPr/>
              </a:p>
              <a:p>
                <a:pPr marL="0" lvl="0" indent="0">
                  <a:buNone/>
                </a:pPr>
                <a:r>
                  <a:t>を満たすように選ぶことができると仮定する ． この</a:t>
                </a:r>
                <a14:m>
                  <m:oMath xmlns:m="http://schemas.openxmlformats.org/officeDocument/2006/math">
                    <m:r>
                      <m:rPr>
                        <m:sty m:val="p"/>
                      </m:rPr>
                      <a:rPr>
                        <a:latin typeface="Cambria Math" panose="02040503050406030204" pitchFamily="18" charset="0"/>
                      </a:rPr>
                      <m:t>Λ</m:t>
                    </m:r>
                  </m:oMath>
                </a14:m>
                <a:r>
                  <a:t>を用いれば</a:t>
                </a:r>
              </a:p>
              <a:p>
                <a:pPr marL="0" lvl="0" indent="0">
                  <a:buNone/>
                </a:pPr>
                <a14:m>
                  <m:oMathPara xmlns:m="http://schemas.openxmlformats.org/officeDocument/2006/math">
                    <m:oMathParaPr>
                      <m:jc m:val="center"/>
                    </m:oMathParaPr>
                    <m:oMath xmlns:m="http://schemas.openxmlformats.org/officeDocument/2006/math">
                      <m:eqArr>
                        <m:eqArrPr>
                          <m:ctrlPr>
                            <a:rPr>
                              <a:latin typeface="Cambria Math" panose="02040503050406030204" pitchFamily="18" charset="0"/>
                            </a:rPr>
                          </m:ctrlPr>
                        </m:eqArrPr>
                        <m:e>
                          <m:r>
                            <a:rPr>
                              <a:latin typeface="Cambria Math" panose="02040503050406030204" pitchFamily="18" charset="0"/>
                            </a:rPr>
                            <m:t>𝐴</m:t>
                          </m:r>
                          <m:r>
                            <a:rPr>
                              <a:latin typeface="Cambria Math" panose="02040503050406030204" pitchFamily="18" charset="0"/>
                            </a:rPr>
                            <m:t>&amp;=</m:t>
                          </m:r>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𝑇</m:t>
                              </m:r>
                            </m:sup>
                          </m:sSup>
                        </m:e>
                        <m:e>
                          <m:r>
                            <a:rPr>
                              <a:latin typeface="Cambria Math" panose="02040503050406030204" pitchFamily="18" charset="0"/>
                            </a:rPr>
                            <m:t>&amp;=</m:t>
                          </m:r>
                          <m:r>
                            <a:rPr>
                              <a:latin typeface="Cambria Math" panose="02040503050406030204" pitchFamily="18" charset="0"/>
                            </a:rPr>
                            <m:t>𝑆</m:t>
                          </m:r>
                          <m:sSup>
                            <m:sSupPr>
                              <m:ctrlPr>
                                <a:rPr i="1">
                                  <a:latin typeface="Cambria Math" panose="02040503050406030204" pitchFamily="18" charset="0"/>
                                </a:rPr>
                              </m:ctrlPr>
                            </m:sSupPr>
                            <m:e>
                              <m:r>
                                <a:rPr>
                                  <a:latin typeface="Cambria Math" panose="02040503050406030204" pitchFamily="18" charset="0"/>
                                </a:rPr>
                                <m:t>𝑒</m:t>
                              </m:r>
                            </m:e>
                            <m:sup>
                              <m:r>
                                <m:rPr>
                                  <m:sty m:val="p"/>
                                </m:rPr>
                                <a:rPr>
                                  <a:latin typeface="Cambria Math" panose="02040503050406030204" pitchFamily="18" charset="0"/>
                                </a:rPr>
                                <m:t>Λ</m:t>
                              </m:r>
                              <m:r>
                                <a:rPr>
                                  <a:latin typeface="Cambria Math" panose="02040503050406030204" pitchFamily="18" charset="0"/>
                                </a:rPr>
                                <m:t>𝑇</m:t>
                              </m:r>
                            </m:sup>
                          </m:sSup>
                          <m:sSup>
                            <m:sSupPr>
                              <m:ctrlPr>
                                <a:rPr i="1">
                                  <a:latin typeface="Cambria Math" panose="02040503050406030204" pitchFamily="18" charset="0"/>
                                </a:rPr>
                              </m:ctrlPr>
                            </m:sSupPr>
                            <m:e>
                              <m:r>
                                <a:rPr>
                                  <a:latin typeface="Cambria Math" panose="02040503050406030204" pitchFamily="18" charset="0"/>
                                </a:rPr>
                                <m:t>𝑆</m:t>
                              </m:r>
                            </m:e>
                            <m:sup>
                              <m:r>
                                <a:rPr>
                                  <a:latin typeface="Cambria Math" panose="02040503050406030204" pitchFamily="18" charset="0"/>
                                </a:rPr>
                                <m:t>−1</m:t>
                              </m:r>
                            </m:sup>
                          </m:sSup>
                        </m:e>
                        <m:e>
                          <m:r>
                            <a:rPr>
                              <a:latin typeface="Cambria Math" panose="02040503050406030204" pitchFamily="18" charset="0"/>
                            </a:rPr>
                            <m:t>&amp;=</m:t>
                          </m:r>
                          <m:r>
                            <a:rPr>
                              <a:latin typeface="Cambria Math" panose="02040503050406030204" pitchFamily="18" charset="0"/>
                            </a:rPr>
                            <m:t>𝑆</m:t>
                          </m:r>
                          <m:d>
                            <m:dPr>
                              <m:ctrlPr>
                                <a:rPr i="1">
                                  <a:latin typeface="Cambria Math" panose="02040503050406030204" pitchFamily="18" charset="0"/>
                                </a:rPr>
                              </m:ctrlPr>
                            </m:dPr>
                            <m:e>
                              <m:m>
                                <m:mPr>
                                  <m:plcHide m:val="on"/>
                                  <m:mcs>
                                    <m:mc>
                                      <m:mcPr>
                                        <m:count m:val="4"/>
                                        <m:mcJc m:val="center"/>
                                      </m:mcPr>
                                    </m:mc>
                                  </m:mcs>
                                  <m:ctrlPr>
                                    <a:rPr i="1">
                                      <a:latin typeface="Cambria Math" panose="02040503050406030204" pitchFamily="18" charset="0"/>
                                    </a:rPr>
                                  </m:ctrlPr>
                                </m:mPr>
                                <m:mr>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1</m:t>
                                            </m:r>
                                          </m:sub>
                                        </m:sSub>
                                        <m:r>
                                          <a:rPr>
                                            <a:latin typeface="Cambria Math" panose="02040503050406030204" pitchFamily="18" charset="0"/>
                                          </a:rPr>
                                          <m:t>𝑇</m:t>
                                        </m:r>
                                      </m:sup>
                                    </m:sSup>
                                  </m:e>
                                  <m:e>
                                    <m:r>
                                      <a:rPr>
                                        <a:latin typeface="Cambria Math" panose="02040503050406030204" pitchFamily="18" charset="0"/>
                                      </a:rPr>
                                      <m:t>0</m:t>
                                    </m:r>
                                  </m:e>
                                  <m:e>
                                    <m:r>
                                      <a:rPr>
                                        <a:latin typeface="Cambria Math" panose="02040503050406030204" pitchFamily="18" charset="0"/>
                                      </a:rPr>
                                      <m:t>⋯</m:t>
                                    </m:r>
                                  </m:e>
                                  <m:e>
                                    <m:r>
                                      <a:rPr>
                                        <a:latin typeface="Cambria Math" panose="02040503050406030204" pitchFamily="18" charset="0"/>
                                      </a:rPr>
                                      <m:t>0</m:t>
                                    </m:r>
                                  </m:e>
                                </m:mr>
                                <m:mr>
                                  <m:e>
                                    <m:r>
                                      <a:rPr>
                                        <a:latin typeface="Cambria Math" panose="02040503050406030204" pitchFamily="18" charset="0"/>
                                      </a:rPr>
                                      <m:t>0</m:t>
                                    </m:r>
                                  </m:e>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2</m:t>
                                            </m:r>
                                          </m:sub>
                                        </m:sSub>
                                        <m:r>
                                          <a:rPr>
                                            <a:latin typeface="Cambria Math" panose="02040503050406030204" pitchFamily="18" charset="0"/>
                                          </a:rPr>
                                          <m:t>𝑇</m:t>
                                        </m:r>
                                      </m:sup>
                                    </m:sSup>
                                  </m:e>
                                  <m:e/>
                                  <m:e>
                                    <m:r>
                                      <a:rPr>
                                        <a:latin typeface="Cambria Math" panose="02040503050406030204" pitchFamily="18" charset="0"/>
                                      </a:rPr>
                                      <m:t>0</m:t>
                                    </m:r>
                                  </m:e>
                                </m:mr>
                                <m:mr>
                                  <m:e>
                                    <m:r>
                                      <a:rPr>
                                        <a:latin typeface="Cambria Math" panose="02040503050406030204" pitchFamily="18" charset="0"/>
                                      </a:rPr>
                                      <m:t>⋮</m:t>
                                    </m:r>
                                  </m:e>
                                  <m:e/>
                                  <m:e>
                                    <m:r>
                                      <a:rPr>
                                        <a:latin typeface="Cambria Math" panose="02040503050406030204" pitchFamily="18" charset="0"/>
                                      </a:rPr>
                                      <m:t>⋱</m:t>
                                    </m:r>
                                  </m:e>
                                  <m:e/>
                                </m:mr>
                                <m:mr>
                                  <m:e>
                                    <m:r>
                                      <a:rPr>
                                        <a:latin typeface="Cambria Math" panose="02040503050406030204" pitchFamily="18" charset="0"/>
                                      </a:rPr>
                                      <m:t>0</m:t>
                                    </m:r>
                                  </m:e>
                                  <m:e>
                                    <m:r>
                                      <a:rPr>
                                        <a:latin typeface="Cambria Math" panose="02040503050406030204" pitchFamily="18" charset="0"/>
                                      </a:rPr>
                                      <m:t>⋯</m:t>
                                    </m:r>
                                  </m:e>
                                  <m:e/>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𝑐𝑛</m:t>
                                            </m:r>
                                          </m:sub>
                                        </m:sSub>
                                        <m:r>
                                          <a:rPr>
                                            <a:latin typeface="Cambria Math" panose="02040503050406030204" pitchFamily="18" charset="0"/>
                                          </a:rPr>
                                          <m:t>𝑇</m:t>
                                        </m:r>
                                      </m:sup>
                                    </m:sSup>
                                  </m:e>
                                </m:mr>
                              </m:m>
                            </m:e>
                          </m:d>
                          <m:sSup>
                            <m:sSupPr>
                              <m:ctrlPr>
                                <a:rPr i="1">
                                  <a:latin typeface="Cambria Math" panose="02040503050406030204" pitchFamily="18" charset="0"/>
                                </a:rPr>
                              </m:ctrlPr>
                            </m:sSupPr>
                            <m:e>
                              <m:r>
                                <a:rPr>
                                  <a:latin typeface="Cambria Math" panose="02040503050406030204" pitchFamily="18" charset="0"/>
                                </a:rPr>
                                <m:t>𝑆</m:t>
                              </m:r>
                            </m:e>
                            <m:sup>
                              <m:r>
                                <a:rPr>
                                  <a:latin typeface="Cambria Math" panose="02040503050406030204" pitchFamily="18" charset="0"/>
                                </a:rPr>
                                <m:t>−1</m:t>
                              </m:r>
                            </m:sup>
                          </m:sSup>
                        </m:e>
                      </m:eqArr>
                    </m:oMath>
                  </m:oMathPara>
                </a14:m>
                <a:endParaRPr/>
              </a:p>
              <a:p>
                <a:pPr marL="0" lvl="0" indent="0">
                  <a:buNone/>
                </a:pPr>
                <a:r>
                  <a:t>となり，</a:t>
                </a:r>
                <a:r>
                  <a:rPr b="1"/>
                  <a:t>離散化されたシステムの</a:t>
                </a:r>
                <a14:m>
                  <m:oMath xmlns:m="http://schemas.openxmlformats.org/officeDocument/2006/math">
                    <m:r>
                      <a:rPr>
                        <a:latin typeface="Cambria Math" panose="02040503050406030204" pitchFamily="18" charset="0"/>
                      </a:rPr>
                      <m:t>𝐴</m:t>
                    </m:r>
                  </m:oMath>
                </a14:m>
                <a:r>
                  <a:rPr b="1"/>
                  <a:t>行列の固有値は</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𝑐𝑖</m:t>
                            </m:r>
                          </m:sub>
                        </m:sSub>
                        <m:r>
                          <a:rPr>
                            <a:latin typeface="Cambria Math" panose="02040503050406030204" pitchFamily="18" charset="0"/>
                          </a:rPr>
                          <m:t>𝑇</m:t>
                        </m:r>
                      </m:sup>
                    </m:sSup>
                  </m:oMath>
                </a14:m>
                <a:r>
                  <a:t>となる．</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80" t="-2580" b="-607"/>
                </a:stretch>
              </a:blipFill>
            </p:spPr>
            <p:txBody>
              <a:bodyPr>
                <a:normAutofit fontScale="62000" lnSpcReduction="20000"/>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5B3B32BB-0E37-3B35-1724-A143417BA3B2}"/>
              </a:ext>
            </a:extLst>
          </p:cNvPr>
          <p:cNvSpPr>
            <a:spLocks noGrp="1"/>
          </p:cNvSpPr>
          <p:nvPr>
            <p:ph type="dt" sz="half" idx="10"/>
          </p:nvPr>
        </p:nvSpPr>
        <p:spPr/>
        <p:txBody>
          <a:bodyPr>
            <a:normAutofit fontScale="62000" lnSpcReduction="20000"/>
          </a:bodyPr>
          <a:lstStyle/>
          <a:p>
            <a:fld id="{92B63F7A-24E5-486E-9948-8A3E473E0300}" type="datetime1">
              <a:rPr lang="en-US" altLang="ja-JP" smtClean="0"/>
              <a:t>4/13/2026</a:t>
            </a:fld>
            <a:endParaRPr lang="en-US"/>
          </a:p>
        </p:txBody>
      </p:sp>
      <p:sp>
        <p:nvSpPr>
          <p:cNvPr id="6" name="スライド番号プレースホルダー 5">
            <a:extLst>
              <a:ext uri="{FF2B5EF4-FFF2-40B4-BE49-F238E27FC236}">
                <a16:creationId xmlns:a16="http://schemas.microsoft.com/office/drawing/2014/main" id="{B49F3205-B529-2A05-D3C2-58002010761F}"/>
              </a:ext>
            </a:extLst>
          </p:cNvPr>
          <p:cNvSpPr>
            <a:spLocks noGrp="1"/>
          </p:cNvSpPr>
          <p:nvPr>
            <p:ph type="sldNum" sz="quarter" idx="12"/>
          </p:nvPr>
        </p:nvSpPr>
        <p:spPr/>
        <p:txBody>
          <a:bodyPr>
            <a:normAutofit fontScale="62000" lnSpcReduction="20000"/>
          </a:bodyPr>
          <a:lstStyle/>
          <a:p>
            <a:fld id="{C5EF2332-01BF-834F-8236-50238282D533}" type="slidenum">
              <a:rPr lang="en-US" smtClean="0"/>
              <a:t>3</a:t>
            </a:fld>
            <a:endParaRPr lang="en-US"/>
          </a:p>
        </p:txBody>
      </p:sp>
      <p:sp>
        <p:nvSpPr>
          <p:cNvPr id="7" name="フッター プレースホルダー 6">
            <a:extLst>
              <a:ext uri="{FF2B5EF4-FFF2-40B4-BE49-F238E27FC236}">
                <a16:creationId xmlns:a16="http://schemas.microsoft.com/office/drawing/2014/main" id="{A6FB2C9D-ABAD-8B17-14AE-F3CDCF6196CD}"/>
              </a:ext>
            </a:extLst>
          </p:cNvPr>
          <p:cNvSpPr>
            <a:spLocks noGrp="1"/>
          </p:cNvSpPr>
          <p:nvPr>
            <p:ph type="ftr" sz="quarter" idx="11"/>
          </p:nvPr>
        </p:nvSpPr>
        <p:spPr/>
        <p:txBody>
          <a:bodyPr>
            <a:normAutofit fontScale="62000" lnSpcReduction="20000"/>
          </a:bodyPr>
          <a:lstStyle/>
          <a:p>
            <a:r>
              <a:rPr lang="zh-TW" altLang="en-US"/>
              <a:t>線形制御理論</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62000" lnSpcReduction="20000"/>
          </a:bodyPr>
          <a:lstStyle/>
          <a:p>
            <a:pPr marL="0" lvl="0" indent="0">
              <a:buNone/>
            </a:pPr>
            <a:r>
              <a:t>3.1 状態方程式の離散化</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62000" lnSpcReduction="20000"/>
              </a:bodyPr>
              <a:lstStyle/>
              <a:p>
                <a:pPr marL="0" lvl="0" indent="0">
                  <a:buNone/>
                </a:pPr>
                <a14:m>
                  <m:oMathPara xmlns:m="http://schemas.openxmlformats.org/officeDocument/2006/math">
                    <m:oMathParaPr>
                      <m:jc m:val="center"/>
                    </m:oMathParaPr>
                    <m:oMath xmlns:m="http://schemas.openxmlformats.org/officeDocument/2006/math">
                      <m:eqArr>
                        <m:eqArrPr>
                          <m:ctrlPr>
                            <a:rPr>
                              <a:latin typeface="Cambria Math" panose="02040503050406030204" pitchFamily="18" charset="0"/>
                            </a:rPr>
                          </m:ctrlPr>
                        </m:eqArrPr>
                        <m:e>
                          <m:r>
                            <a:rPr>
                              <a:latin typeface="Cambria Math" panose="02040503050406030204" pitchFamily="18" charset="0"/>
                            </a:rPr>
                            <m:t>𝐴</m:t>
                          </m:r>
                          <m:r>
                            <a:rPr>
                              <a:latin typeface="Cambria Math" panose="02040503050406030204" pitchFamily="18" charset="0"/>
                            </a:rPr>
                            <m:t>&amp;=</m:t>
                          </m:r>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r>
                                <a:rPr>
                                  <a:latin typeface="Cambria Math" panose="02040503050406030204" pitchFamily="18" charset="0"/>
                                </a:rPr>
                                <m:t>𝑇</m:t>
                              </m:r>
                            </m:sup>
                          </m:sSup>
                        </m:e>
                        <m:e>
                          <m:r>
                            <a:rPr>
                              <a:latin typeface="Cambria Math" panose="02040503050406030204" pitchFamily="18" charset="0"/>
                            </a:rPr>
                            <m:t>&amp;=</m:t>
                          </m:r>
                          <m:r>
                            <a:rPr>
                              <a:latin typeface="Cambria Math" panose="02040503050406030204" pitchFamily="18" charset="0"/>
                            </a:rPr>
                            <m:t>𝑆</m:t>
                          </m:r>
                          <m:sSup>
                            <m:sSupPr>
                              <m:ctrlPr>
                                <a:rPr i="1">
                                  <a:latin typeface="Cambria Math" panose="02040503050406030204" pitchFamily="18" charset="0"/>
                                </a:rPr>
                              </m:ctrlPr>
                            </m:sSupPr>
                            <m:e>
                              <m:r>
                                <a:rPr>
                                  <a:latin typeface="Cambria Math" panose="02040503050406030204" pitchFamily="18" charset="0"/>
                                </a:rPr>
                                <m:t>𝑒</m:t>
                              </m:r>
                            </m:e>
                            <m:sup>
                              <m:r>
                                <m:rPr>
                                  <m:sty m:val="p"/>
                                </m:rPr>
                                <a:rPr>
                                  <a:latin typeface="Cambria Math" panose="02040503050406030204" pitchFamily="18" charset="0"/>
                                </a:rPr>
                                <m:t>Λ</m:t>
                              </m:r>
                              <m:r>
                                <a:rPr>
                                  <a:latin typeface="Cambria Math" panose="02040503050406030204" pitchFamily="18" charset="0"/>
                                </a:rPr>
                                <m:t>𝑇</m:t>
                              </m:r>
                            </m:sup>
                          </m:sSup>
                          <m:sSup>
                            <m:sSupPr>
                              <m:ctrlPr>
                                <a:rPr i="1">
                                  <a:latin typeface="Cambria Math" panose="02040503050406030204" pitchFamily="18" charset="0"/>
                                </a:rPr>
                              </m:ctrlPr>
                            </m:sSupPr>
                            <m:e>
                              <m:r>
                                <a:rPr>
                                  <a:latin typeface="Cambria Math" panose="02040503050406030204" pitchFamily="18" charset="0"/>
                                </a:rPr>
                                <m:t>𝑆</m:t>
                              </m:r>
                            </m:e>
                            <m:sup>
                              <m:r>
                                <a:rPr>
                                  <a:latin typeface="Cambria Math" panose="02040503050406030204" pitchFamily="18" charset="0"/>
                                </a:rPr>
                                <m:t>−1</m:t>
                              </m:r>
                            </m:sup>
                          </m:sSup>
                        </m:e>
                        <m:e>
                          <m:r>
                            <a:rPr>
                              <a:latin typeface="Cambria Math" panose="02040503050406030204" pitchFamily="18" charset="0"/>
                            </a:rPr>
                            <m:t>&amp;=</m:t>
                          </m:r>
                          <m:r>
                            <a:rPr>
                              <a:latin typeface="Cambria Math" panose="02040503050406030204" pitchFamily="18" charset="0"/>
                            </a:rPr>
                            <m:t>𝑆</m:t>
                          </m:r>
                          <m:d>
                            <m:dPr>
                              <m:ctrlPr>
                                <a:rPr i="1">
                                  <a:latin typeface="Cambria Math" panose="02040503050406030204" pitchFamily="18" charset="0"/>
                                </a:rPr>
                              </m:ctrlPr>
                            </m:dPr>
                            <m:e>
                              <m:m>
                                <m:mPr>
                                  <m:plcHide m:val="on"/>
                                  <m:mcs>
                                    <m:mc>
                                      <m:mcPr>
                                        <m:count m:val="4"/>
                                        <m:mcJc m:val="center"/>
                                      </m:mcPr>
                                    </m:mc>
                                  </m:mcs>
                                  <m:ctrlPr>
                                    <a:rPr i="1">
                                      <a:latin typeface="Cambria Math" panose="02040503050406030204" pitchFamily="18" charset="0"/>
                                    </a:rPr>
                                  </m:ctrlPr>
                                </m:mPr>
                                <m:mr>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1</m:t>
                                            </m:r>
                                          </m:sub>
                                        </m:sSub>
                                        <m:r>
                                          <a:rPr>
                                            <a:latin typeface="Cambria Math" panose="02040503050406030204" pitchFamily="18" charset="0"/>
                                          </a:rPr>
                                          <m:t>𝑇</m:t>
                                        </m:r>
                                      </m:sup>
                                    </m:sSup>
                                  </m:e>
                                  <m:e>
                                    <m:r>
                                      <a:rPr>
                                        <a:latin typeface="Cambria Math" panose="02040503050406030204" pitchFamily="18" charset="0"/>
                                      </a:rPr>
                                      <m:t>0</m:t>
                                    </m:r>
                                  </m:e>
                                  <m:e>
                                    <m:r>
                                      <a:rPr>
                                        <a:latin typeface="Cambria Math" panose="02040503050406030204" pitchFamily="18" charset="0"/>
                                      </a:rPr>
                                      <m:t>⋯</m:t>
                                    </m:r>
                                  </m:e>
                                  <m:e>
                                    <m:r>
                                      <a:rPr>
                                        <a:latin typeface="Cambria Math" panose="02040503050406030204" pitchFamily="18" charset="0"/>
                                      </a:rPr>
                                      <m:t>0</m:t>
                                    </m:r>
                                  </m:e>
                                </m:mr>
                                <m:mr>
                                  <m:e>
                                    <m:r>
                                      <a:rPr>
                                        <a:latin typeface="Cambria Math" panose="02040503050406030204" pitchFamily="18" charset="0"/>
                                      </a:rPr>
                                      <m:t>0</m:t>
                                    </m:r>
                                  </m:e>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m:t>
                                            </m:r>
                                            <m:r>
                                              <a:rPr>
                                                <a:latin typeface="Cambria Math" panose="02040503050406030204" pitchFamily="18" charset="0"/>
                                              </a:rPr>
                                              <m:t>2</m:t>
                                            </m:r>
                                          </m:sub>
                                        </m:sSub>
                                        <m:r>
                                          <a:rPr>
                                            <a:latin typeface="Cambria Math" panose="02040503050406030204" pitchFamily="18" charset="0"/>
                                          </a:rPr>
                                          <m:t>𝑇</m:t>
                                        </m:r>
                                      </m:sup>
                                    </m:sSup>
                                  </m:e>
                                  <m:e/>
                                  <m:e>
                                    <m:r>
                                      <a:rPr>
                                        <a:latin typeface="Cambria Math" panose="02040503050406030204" pitchFamily="18" charset="0"/>
                                      </a:rPr>
                                      <m:t>0</m:t>
                                    </m:r>
                                  </m:e>
                                </m:mr>
                                <m:mr>
                                  <m:e>
                                    <m:r>
                                      <a:rPr>
                                        <a:latin typeface="Cambria Math" panose="02040503050406030204" pitchFamily="18" charset="0"/>
                                      </a:rPr>
                                      <m:t>⋮</m:t>
                                    </m:r>
                                  </m:e>
                                  <m:e/>
                                  <m:e>
                                    <m:r>
                                      <a:rPr>
                                        <a:latin typeface="Cambria Math" panose="02040503050406030204" pitchFamily="18" charset="0"/>
                                      </a:rPr>
                                      <m:t>⋱</m:t>
                                    </m:r>
                                  </m:e>
                                  <m:e/>
                                </m:mr>
                                <m:mr>
                                  <m:e>
                                    <m:r>
                                      <a:rPr>
                                        <a:latin typeface="Cambria Math" panose="02040503050406030204" pitchFamily="18" charset="0"/>
                                      </a:rPr>
                                      <m:t>0</m:t>
                                    </m:r>
                                  </m:e>
                                  <m:e>
                                    <m:r>
                                      <a:rPr>
                                        <a:latin typeface="Cambria Math" panose="02040503050406030204" pitchFamily="18" charset="0"/>
                                      </a:rPr>
                                      <m:t>⋯</m:t>
                                    </m:r>
                                  </m:e>
                                  <m:e/>
                                  <m:e>
                                    <m:sSup>
                                      <m:sSupPr>
                                        <m:ctrlPr>
                                          <a:rPr i="1">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𝑐𝑛</m:t>
                                            </m:r>
                                          </m:sub>
                                        </m:sSub>
                                        <m:r>
                                          <a:rPr>
                                            <a:latin typeface="Cambria Math" panose="02040503050406030204" pitchFamily="18" charset="0"/>
                                          </a:rPr>
                                          <m:t>𝑇</m:t>
                                        </m:r>
                                      </m:sup>
                                    </m:sSup>
                                  </m:e>
                                </m:mr>
                              </m:m>
                            </m:e>
                          </m:d>
                          <m:sSup>
                            <m:sSupPr>
                              <m:ctrlPr>
                                <a:rPr i="1">
                                  <a:latin typeface="Cambria Math" panose="02040503050406030204" pitchFamily="18" charset="0"/>
                                </a:rPr>
                              </m:ctrlPr>
                            </m:sSupPr>
                            <m:e>
                              <m:r>
                                <a:rPr>
                                  <a:latin typeface="Cambria Math" panose="02040503050406030204" pitchFamily="18" charset="0"/>
                                </a:rPr>
                                <m:t>𝑆</m:t>
                              </m:r>
                            </m:e>
                            <m:sup>
                              <m:r>
                                <a:rPr>
                                  <a:latin typeface="Cambria Math" panose="02040503050406030204" pitchFamily="18" charset="0"/>
                                </a:rPr>
                                <m:t>−1</m:t>
                              </m:r>
                            </m:sup>
                          </m:sSup>
                        </m:e>
                      </m:eqArr>
                    </m:oMath>
                  </m:oMathPara>
                </a14:m>
                <a:endParaRPr/>
              </a:p>
              <a:p>
                <a:pPr marL="0" lvl="0" indent="0">
                  <a:buNone/>
                </a:pPr>
                <a:r>
                  <a:rPr b="1"/>
                  <a:t>離散化されたシステムの</a:t>
                </a:r>
                <a14:m>
                  <m:oMath xmlns:m="http://schemas.openxmlformats.org/officeDocument/2006/math">
                    <m:r>
                      <a:rPr>
                        <a:latin typeface="Cambria Math" panose="02040503050406030204" pitchFamily="18" charset="0"/>
                      </a:rPr>
                      <m:t>𝐴</m:t>
                    </m:r>
                  </m:oMath>
                </a14:m>
                <a:r>
                  <a:rPr b="1"/>
                  <a:t>行列の固有値は</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𝑒</m:t>
                        </m:r>
                      </m:e>
                      <m:sup>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𝑐𝑖</m:t>
                            </m:r>
                          </m:sub>
                        </m:sSub>
                        <m:r>
                          <a:rPr>
                            <a:latin typeface="Cambria Math" panose="02040503050406030204" pitchFamily="18" charset="0"/>
                          </a:rPr>
                          <m:t>𝑇</m:t>
                        </m:r>
                      </m:sup>
                    </m:sSup>
                  </m:oMath>
                </a14:m>
                <a:r>
                  <a:t>となる． よって</a:t>
                </a:r>
                <a:br/>
                <a:r>
                  <a:t>連続時間システムの</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𝑐</m:t>
                        </m:r>
                      </m:sub>
                    </m:sSub>
                  </m:oMath>
                </a14:m>
                <a:r>
                  <a:t>行列の固有値の実部が負である</a:t>
                </a:r>
                <a:br/>
                <a14:m>
                  <m:oMath xmlns:m="http://schemas.openxmlformats.org/officeDocument/2006/math">
                    <m:r>
                      <a:rPr>
                        <a:latin typeface="Cambria Math" panose="02040503050406030204" pitchFamily="18" charset="0"/>
                      </a:rPr>
                      <m:t>⇒</m:t>
                    </m:r>
                  </m:oMath>
                </a14:m>
                <a:r>
                  <a:t> 離散化されたシステムの</a:t>
                </a:r>
                <a14:m>
                  <m:oMath xmlns:m="http://schemas.openxmlformats.org/officeDocument/2006/math">
                    <m:r>
                      <a:rPr>
                        <a:latin typeface="Cambria Math" panose="02040503050406030204" pitchFamily="18" charset="0"/>
                      </a:rPr>
                      <m:t>𝐴</m:t>
                    </m:r>
                  </m:oMath>
                </a14:m>
                <a:r>
                  <a:t>行列の固有値の絶対値は1未満となる．</a:t>
                </a:r>
                <a:br/>
                <a:r>
                  <a:t>これは後述するように連続システムが安定であれば離散化されたシステムも安定となることを示 している．</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4"/>
                </a:stretch>
              </a:blipFill>
            </p:spPr>
            <p:txBody>
              <a:bodyPr>
                <a:normAutofit fontScale="62000" lnSpcReduction="20000"/>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6A619DF7-9067-E794-B773-ADC63930A6A1}"/>
              </a:ext>
            </a:extLst>
          </p:cNvPr>
          <p:cNvSpPr>
            <a:spLocks noGrp="1"/>
          </p:cNvSpPr>
          <p:nvPr>
            <p:ph type="dt" sz="half" idx="10"/>
          </p:nvPr>
        </p:nvSpPr>
        <p:spPr/>
        <p:txBody>
          <a:bodyPr>
            <a:normAutofit fontScale="62000" lnSpcReduction="20000"/>
          </a:bodyPr>
          <a:lstStyle/>
          <a:p>
            <a:fld id="{FBC03F38-C4A5-43C8-A9B1-3B595259D0EE}" type="datetime1">
              <a:rPr lang="en-US" altLang="ja-JP" smtClean="0"/>
              <a:t>4/13/2026</a:t>
            </a:fld>
            <a:endParaRPr lang="en-US"/>
          </a:p>
        </p:txBody>
      </p:sp>
      <p:sp>
        <p:nvSpPr>
          <p:cNvPr id="6" name="スライド番号プレースホルダー 5">
            <a:extLst>
              <a:ext uri="{FF2B5EF4-FFF2-40B4-BE49-F238E27FC236}">
                <a16:creationId xmlns:a16="http://schemas.microsoft.com/office/drawing/2014/main" id="{71F1A340-AD93-2547-707E-19E4FD74A8BE}"/>
              </a:ext>
            </a:extLst>
          </p:cNvPr>
          <p:cNvSpPr>
            <a:spLocks noGrp="1"/>
          </p:cNvSpPr>
          <p:nvPr>
            <p:ph type="sldNum" sz="quarter" idx="12"/>
          </p:nvPr>
        </p:nvSpPr>
        <p:spPr/>
        <p:txBody>
          <a:bodyPr>
            <a:normAutofit fontScale="62000" lnSpcReduction="20000"/>
          </a:bodyPr>
          <a:lstStyle/>
          <a:p>
            <a:fld id="{C5EF2332-01BF-834F-8236-50238282D533}" type="slidenum">
              <a:rPr lang="en-US" smtClean="0"/>
              <a:t>4</a:t>
            </a:fld>
            <a:endParaRPr lang="en-US"/>
          </a:p>
        </p:txBody>
      </p:sp>
      <p:sp>
        <p:nvSpPr>
          <p:cNvPr id="7" name="フッター プレースホルダー 6">
            <a:extLst>
              <a:ext uri="{FF2B5EF4-FFF2-40B4-BE49-F238E27FC236}">
                <a16:creationId xmlns:a16="http://schemas.microsoft.com/office/drawing/2014/main" id="{299CD944-EC1F-AFCB-C16B-24A586892169}"/>
              </a:ext>
            </a:extLst>
          </p:cNvPr>
          <p:cNvSpPr>
            <a:spLocks noGrp="1"/>
          </p:cNvSpPr>
          <p:nvPr>
            <p:ph type="ftr" sz="quarter" idx="11"/>
          </p:nvPr>
        </p:nvSpPr>
        <p:spPr/>
        <p:txBody>
          <a:bodyPr>
            <a:normAutofit fontScale="62000" lnSpcReduction="20000"/>
          </a:bodyPr>
          <a:lstStyle/>
          <a:p>
            <a:r>
              <a:rPr lang="zh-TW" altLang="en-US"/>
              <a:t>線形制御理論</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62000" lnSpcReduction="20000"/>
          </a:bodyPr>
          <a:lstStyle/>
          <a:p>
            <a:pPr marL="0" lvl="0" indent="0">
              <a:buNone/>
            </a:pPr>
            <a:r>
              <a:t>3.2 連続時間コントローラの離散化</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62000" lnSpcReduction="20000"/>
              </a:bodyPr>
              <a:lstStyle/>
              <a:p>
                <a:pPr marL="0" lvl="0" indent="0">
                  <a:buNone/>
                </a:pPr>
                <a:r>
                  <a:t>特殊なシステムの場合は，先の離散化以外の方法で制御できる場合がある．</a:t>
                </a:r>
                <a:br/>
                <a:r>
                  <a:t>例えば機械系の制御の場合はつぎのようにオブザーバを用いないで制御することができる． 一般に機械系の状態方程式は連続系において</a:t>
                </a:r>
              </a:p>
              <a:p>
                <a:pPr marL="0" lvl="0" indent="0">
                  <a:buNone/>
                </a:pPr>
                <a14:m>
                  <m:oMathPara xmlns:m="http://schemas.openxmlformats.org/officeDocument/2006/math">
                    <m:oMathParaPr>
                      <m:jc m:val="center"/>
                    </m:oMathParaPr>
                    <m:oMath xmlns:m="http://schemas.openxmlformats.org/officeDocument/2006/math">
                      <m:eqArr>
                        <m:eqArrPr>
                          <m:ctrlPr>
                            <a:rPr>
                              <a:latin typeface="Cambria Math" panose="02040503050406030204" pitchFamily="18" charset="0"/>
                            </a:rPr>
                          </m:ctrlPr>
                        </m:eqArrPr>
                        <m:e>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𝑑𝑡</m:t>
                              </m:r>
                            </m:den>
                          </m:f>
                          <m:d>
                            <m:dPr>
                              <m:ctrlPr>
                                <a:rPr i="1">
                                  <a:latin typeface="Cambria Math" panose="02040503050406030204" pitchFamily="18" charset="0"/>
                                </a:rPr>
                              </m:ctrlPr>
                            </m:dPr>
                            <m:e>
                              <m:m>
                                <m:mPr>
                                  <m:plcHide m:val="on"/>
                                  <m:mcs>
                                    <m:mc>
                                      <m:mcPr>
                                        <m:count m:val="1"/>
                                        <m:mcJc m:val="center"/>
                                      </m:mcPr>
                                    </m:mc>
                                  </m:mcs>
                                  <m:ctrlPr>
                                    <a:rPr i="1">
                                      <a:latin typeface="Cambria Math" panose="02040503050406030204" pitchFamily="18" charset="0"/>
                                    </a:rPr>
                                  </m:ctrlPr>
                                </m:mPr>
                                <m:m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mr>
                                <m:m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mr>
                              </m:m>
                            </m:e>
                          </m:d>
                          <m:r>
                            <a:rPr>
                              <a:latin typeface="Cambria Math" panose="02040503050406030204" pitchFamily="18" charset="0"/>
                            </a:rPr>
                            <m:t>&amp;=</m:t>
                          </m:r>
                          <m:d>
                            <m:dPr>
                              <m:ctrlPr>
                                <a:rPr i="1">
                                  <a:latin typeface="Cambria Math" panose="02040503050406030204" pitchFamily="18" charset="0"/>
                                </a:rPr>
                              </m:ctrlPr>
                            </m:dPr>
                            <m:e>
                              <m:m>
                                <m:mPr>
                                  <m:plcHide m:val="on"/>
                                  <m:mcs>
                                    <m:mc>
                                      <m:mcPr>
                                        <m:count m:val="2"/>
                                        <m:mcJc m:val="center"/>
                                      </m:mcPr>
                                    </m:mc>
                                  </m:mcs>
                                  <m:ctrlPr>
                                    <a:rPr i="1">
                                      <a:latin typeface="Cambria Math" panose="02040503050406030204" pitchFamily="18" charset="0"/>
                                    </a:rPr>
                                  </m:ctrlPr>
                                </m:mPr>
                                <m:mr>
                                  <m:e>
                                    <m:r>
                                      <a:rPr>
                                        <a:latin typeface="Cambria Math" panose="02040503050406030204" pitchFamily="18" charset="0"/>
                                      </a:rPr>
                                      <m:t>0</m:t>
                                    </m:r>
                                  </m:e>
                                  <m:e>
                                    <m:r>
                                      <a:rPr>
                                        <a:latin typeface="Cambria Math" panose="02040503050406030204" pitchFamily="18" charset="0"/>
                                      </a:rPr>
                                      <m:t>𝐼</m:t>
                                    </m:r>
                                  </m:e>
                                </m:mr>
                                <m:mr>
                                  <m:e>
                                    <m:sSub>
                                      <m:sSubPr>
                                        <m:ctrlPr>
                                          <a:rPr i="1">
                                            <a:latin typeface="Cambria Math" panose="02040503050406030204" pitchFamily="18" charset="0"/>
                                          </a:rPr>
                                        </m:ctrlPr>
                                      </m:sSubPr>
                                      <m:e>
                                        <m:r>
                                          <a:rPr>
                                            <a:latin typeface="Cambria Math" panose="02040503050406030204" pitchFamily="18" charset="0"/>
                                          </a:rPr>
                                          <m:t>𝐾</m:t>
                                        </m:r>
                                      </m:e>
                                      <m:sub>
                                        <m:r>
                                          <a:rPr>
                                            <a:latin typeface="Cambria Math" panose="02040503050406030204" pitchFamily="18" charset="0"/>
                                          </a:rPr>
                                          <m:t>1</m:t>
                                        </m:r>
                                      </m:sub>
                                    </m:sSub>
                                  </m:e>
                                  <m:e>
                                    <m:sSub>
                                      <m:sSubPr>
                                        <m:ctrlPr>
                                          <a:rPr i="1">
                                            <a:latin typeface="Cambria Math" panose="02040503050406030204" pitchFamily="18" charset="0"/>
                                          </a:rPr>
                                        </m:ctrlPr>
                                      </m:sSubPr>
                                      <m:e>
                                        <m:r>
                                          <a:rPr>
                                            <a:latin typeface="Cambria Math" panose="02040503050406030204" pitchFamily="18" charset="0"/>
                                          </a:rPr>
                                          <m:t>𝐾</m:t>
                                        </m:r>
                                      </m:e>
                                      <m:sub>
                                        <m:r>
                                          <a:rPr>
                                            <a:latin typeface="Cambria Math" panose="02040503050406030204" pitchFamily="18" charset="0"/>
                                          </a:rPr>
                                          <m:t>2</m:t>
                                        </m:r>
                                      </m:sub>
                                    </m:sSub>
                                  </m:e>
                                </m:mr>
                              </m:m>
                            </m:e>
                          </m:d>
                          <m:d>
                            <m:dPr>
                              <m:ctrlPr>
                                <a:rPr i="1">
                                  <a:latin typeface="Cambria Math" panose="02040503050406030204" pitchFamily="18" charset="0"/>
                                </a:rPr>
                              </m:ctrlPr>
                            </m:dPr>
                            <m:e>
                              <m:m>
                                <m:mPr>
                                  <m:plcHide m:val="on"/>
                                  <m:mcs>
                                    <m:mc>
                                      <m:mcPr>
                                        <m:count m:val="1"/>
                                        <m:mcJc m:val="center"/>
                                      </m:mcPr>
                                    </m:mc>
                                  </m:mcs>
                                  <m:ctrlPr>
                                    <a:rPr i="1">
                                      <a:latin typeface="Cambria Math" panose="02040503050406030204" pitchFamily="18" charset="0"/>
                                    </a:rPr>
                                  </m:ctrlPr>
                                </m:mPr>
                                <m:m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mr>
                                <m:m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mr>
                              </m:m>
                            </m:e>
                          </m:d>
                          <m:r>
                            <a:rPr>
                              <a:latin typeface="Cambria Math" panose="02040503050406030204" pitchFamily="18" charset="0"/>
                            </a:rPr>
                            <m:t>+</m:t>
                          </m:r>
                          <m:d>
                            <m:dPr>
                              <m:ctrlPr>
                                <a:rPr i="1">
                                  <a:latin typeface="Cambria Math" panose="02040503050406030204" pitchFamily="18" charset="0"/>
                                </a:rPr>
                              </m:ctrlPr>
                            </m:dPr>
                            <m:e>
                              <m:m>
                                <m:mPr>
                                  <m:plcHide m:val="on"/>
                                  <m:mcs>
                                    <m:mc>
                                      <m:mcPr>
                                        <m:count m:val="1"/>
                                        <m:mcJc m:val="center"/>
                                      </m:mcPr>
                                    </m:mc>
                                  </m:mcs>
                                  <m:ctrlPr>
                                    <a:rPr i="1">
                                      <a:latin typeface="Cambria Math" panose="02040503050406030204" pitchFamily="18" charset="0"/>
                                    </a:rPr>
                                  </m:ctrlPr>
                                </m:mPr>
                                <m:mr>
                                  <m:e>
                                    <m:r>
                                      <a:rPr>
                                        <a:latin typeface="Cambria Math" panose="02040503050406030204" pitchFamily="18" charset="0"/>
                                      </a:rPr>
                                      <m:t>0</m:t>
                                    </m:r>
                                  </m:e>
                                </m:mr>
                                <m:mr>
                                  <m:e>
                                    <m:sSub>
                                      <m:sSubPr>
                                        <m:ctrlPr>
                                          <a:rPr i="1">
                                            <a:latin typeface="Cambria Math" panose="02040503050406030204" pitchFamily="18" charset="0"/>
                                          </a:rPr>
                                        </m:ctrlPr>
                                      </m:sSubPr>
                                      <m:e>
                                        <m:r>
                                          <a:rPr>
                                            <a:latin typeface="Cambria Math" panose="02040503050406030204" pitchFamily="18" charset="0"/>
                                          </a:rPr>
                                          <m:t>𝐾</m:t>
                                        </m:r>
                                      </m:e>
                                      <m:sub>
                                        <m:r>
                                          <a:rPr>
                                            <a:latin typeface="Cambria Math" panose="02040503050406030204" pitchFamily="18" charset="0"/>
                                          </a:rPr>
                                          <m:t>3</m:t>
                                        </m:r>
                                      </m:sub>
                                    </m:sSub>
                                  </m:e>
                                </m:mr>
                              </m:m>
                            </m:e>
                          </m:d>
                          <m:r>
                            <a:rPr>
                              <a:latin typeface="Cambria Math" panose="02040503050406030204" pitchFamily="18" charset="0"/>
                            </a:rPr>
                            <m:t>𝑢</m:t>
                          </m:r>
                        </m:e>
                        <m:e>
                          <m:r>
                            <a:rPr>
                              <a:latin typeface="Cambria Math" panose="02040503050406030204" pitchFamily="18" charset="0"/>
                            </a:rPr>
                            <m:t>𝑦</m:t>
                          </m:r>
                          <m:r>
                            <a:rPr>
                              <a:latin typeface="Cambria Math" panose="02040503050406030204" pitchFamily="18" charset="0"/>
                            </a:rPr>
                            <m:t>&amp;=</m:t>
                          </m:r>
                          <m:d>
                            <m:dPr>
                              <m:ctrlPr>
                                <a:rPr i="1">
                                  <a:latin typeface="Cambria Math" panose="02040503050406030204" pitchFamily="18" charset="0"/>
                                </a:rPr>
                              </m:ctrlPr>
                            </m:dPr>
                            <m:e>
                              <m:m>
                                <m:mPr>
                                  <m:plcHide m:val="on"/>
                                  <m:mcs>
                                    <m:mc>
                                      <m:mcPr>
                                        <m:count m:val="2"/>
                                        <m:mcJc m:val="center"/>
                                      </m:mcPr>
                                    </m:mc>
                                  </m:mcs>
                                  <m:ctrlPr>
                                    <a:rPr i="1">
                                      <a:latin typeface="Cambria Math" panose="02040503050406030204" pitchFamily="18" charset="0"/>
                                    </a:rPr>
                                  </m:ctrlPr>
                                </m:mPr>
                                <m:mr>
                                  <m:e>
                                    <m:r>
                                      <a:rPr>
                                        <a:latin typeface="Cambria Math" panose="02040503050406030204" pitchFamily="18" charset="0"/>
                                      </a:rPr>
                                      <m:t>𝐼</m:t>
                                    </m:r>
                                  </m:e>
                                  <m:e>
                                    <m:r>
                                      <a:rPr>
                                        <a:latin typeface="Cambria Math" panose="02040503050406030204" pitchFamily="18" charset="0"/>
                                      </a:rPr>
                                      <m:t>0</m:t>
                                    </m:r>
                                  </m:e>
                                </m:mr>
                              </m:m>
                            </m:e>
                          </m:d>
                          <m:d>
                            <m:dPr>
                              <m:ctrlPr>
                                <a:rPr i="1">
                                  <a:latin typeface="Cambria Math" panose="02040503050406030204" pitchFamily="18" charset="0"/>
                                </a:rPr>
                              </m:ctrlPr>
                            </m:dPr>
                            <m:e>
                              <m:m>
                                <m:mPr>
                                  <m:plcHide m:val="on"/>
                                  <m:mcs>
                                    <m:mc>
                                      <m:mcPr>
                                        <m:count m:val="1"/>
                                        <m:mcJc m:val="center"/>
                                      </m:mcPr>
                                    </m:mc>
                                  </m:mcs>
                                  <m:ctrlPr>
                                    <a:rPr i="1">
                                      <a:latin typeface="Cambria Math" panose="02040503050406030204" pitchFamily="18" charset="0"/>
                                    </a:rPr>
                                  </m:ctrlPr>
                                </m:mPr>
                                <m:m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mr>
                                <m:m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mr>
                              </m:m>
                            </m:e>
                          </m:d>
                        </m:e>
                      </m:eqArr>
                    </m:oMath>
                  </m:oMathPara>
                </a14:m>
                <a:endParaRPr/>
              </a:p>
              <a:p>
                <a:pPr marL="0" lvl="0" indent="0">
                  <a:buNone/>
                </a:pPr>
                <a:r>
                  <a:t>と表されることが多い． ここで</a:t>
                </a:r>
              </a:p>
              <a:p>
                <a:pPr marL="0" lvl="0" indent="0">
                  <a:buNone/>
                </a:pPr>
                <a14:m>
                  <m:oMathPara xmlns:m="http://schemas.openxmlformats.org/officeDocument/2006/math">
                    <m:oMathParaPr>
                      <m:jc m:val="center"/>
                    </m:oMathParaPr>
                    <m:oMath xmlns:m="http://schemas.openxmlformats.org/officeDocument/2006/math">
                      <m:eqArr>
                        <m:eqArrPr>
                          <m:ctrlPr>
                            <a:rPr>
                              <a:latin typeface="Cambria Math" panose="02040503050406030204" pitchFamily="18" charset="0"/>
                            </a:rPr>
                          </m:ctrlPr>
                        </m:eqArrPr>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&amp;=</m:t>
                          </m:r>
                          <m:r>
                            <a:rPr>
                              <a:latin typeface="Cambria Math" panose="02040503050406030204" pitchFamily="18" charset="0"/>
                            </a:rPr>
                            <m:t>𝑦</m:t>
                          </m:r>
                        </m:e>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&amp;=</m:t>
                          </m:r>
                          <m:f>
                            <m:fPr>
                              <m:ctrlPr>
                                <a:rPr i="1">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𝑑𝑡</m:t>
                              </m:r>
                            </m:den>
                          </m:f>
                        </m:e>
                      </m:eqArr>
                    </m:oMath>
                  </m:oMathPara>
                </a14:m>
                <a:endParaRPr/>
              </a:p>
              <a:p>
                <a:pPr marL="0" lvl="0" indent="0">
                  <a:buNone/>
                </a:pPr>
                <a:r>
                  <a:t>であることから，状態フィードバックは</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𝑢</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1</m:t>
                          </m:r>
                        </m:sub>
                      </m:sSub>
                      <m:r>
                        <a:rPr>
                          <a:latin typeface="Cambria Math" panose="02040503050406030204" pitchFamily="18" charset="0"/>
                        </a:rPr>
                        <m:t>𝑦</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2</m:t>
                          </m:r>
                        </m:sub>
                      </m:sSub>
                      <m:f>
                        <m:fPr>
                          <m:ctrlPr>
                            <a:rPr i="1">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𝑑𝑡</m:t>
                          </m:r>
                        </m:den>
                      </m:f>
                    </m:oMath>
                  </m:oMathPara>
                </a14:m>
                <a:endParaRPr/>
              </a:p>
              <a:p>
                <a:pPr marL="0" lvl="0" indent="0">
                  <a:buNone/>
                </a:pPr>
                <a:r>
                  <a:t>で表される．</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76" t="-2124"/>
                </a:stretch>
              </a:blipFill>
            </p:spPr>
            <p:txBody>
              <a:bodyPr>
                <a:normAutofit fontScale="62000" lnSpcReduction="20000"/>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59FF6FB9-1818-0971-B724-97AF4BA8D490}"/>
              </a:ext>
            </a:extLst>
          </p:cNvPr>
          <p:cNvSpPr>
            <a:spLocks noGrp="1"/>
          </p:cNvSpPr>
          <p:nvPr>
            <p:ph type="dt" sz="half" idx="10"/>
          </p:nvPr>
        </p:nvSpPr>
        <p:spPr/>
        <p:txBody>
          <a:bodyPr>
            <a:normAutofit fontScale="62000" lnSpcReduction="20000"/>
          </a:bodyPr>
          <a:lstStyle/>
          <a:p>
            <a:fld id="{3427E066-E430-4680-A413-E625F7D19F97}" type="datetime1">
              <a:rPr lang="en-US" altLang="ja-JP" smtClean="0"/>
              <a:t>4/13/2026</a:t>
            </a:fld>
            <a:endParaRPr lang="en-US"/>
          </a:p>
        </p:txBody>
      </p:sp>
      <p:sp>
        <p:nvSpPr>
          <p:cNvPr id="6" name="スライド番号プレースホルダー 5">
            <a:extLst>
              <a:ext uri="{FF2B5EF4-FFF2-40B4-BE49-F238E27FC236}">
                <a16:creationId xmlns:a16="http://schemas.microsoft.com/office/drawing/2014/main" id="{A467CCA6-CBB5-B545-08D5-CFD15942648D}"/>
              </a:ext>
            </a:extLst>
          </p:cNvPr>
          <p:cNvSpPr>
            <a:spLocks noGrp="1"/>
          </p:cNvSpPr>
          <p:nvPr>
            <p:ph type="sldNum" sz="quarter" idx="12"/>
          </p:nvPr>
        </p:nvSpPr>
        <p:spPr/>
        <p:txBody>
          <a:bodyPr>
            <a:normAutofit fontScale="62000" lnSpcReduction="20000"/>
          </a:bodyPr>
          <a:lstStyle/>
          <a:p>
            <a:fld id="{C5EF2332-01BF-834F-8236-50238282D533}" type="slidenum">
              <a:rPr lang="en-US" smtClean="0"/>
              <a:t>5</a:t>
            </a:fld>
            <a:endParaRPr lang="en-US"/>
          </a:p>
        </p:txBody>
      </p:sp>
      <p:sp>
        <p:nvSpPr>
          <p:cNvPr id="7" name="フッター プレースホルダー 6">
            <a:extLst>
              <a:ext uri="{FF2B5EF4-FFF2-40B4-BE49-F238E27FC236}">
                <a16:creationId xmlns:a16="http://schemas.microsoft.com/office/drawing/2014/main" id="{B302DEB3-CA2C-8E38-E46A-8A143E12EFF0}"/>
              </a:ext>
            </a:extLst>
          </p:cNvPr>
          <p:cNvSpPr>
            <a:spLocks noGrp="1"/>
          </p:cNvSpPr>
          <p:nvPr>
            <p:ph type="ftr" sz="quarter" idx="11"/>
          </p:nvPr>
        </p:nvSpPr>
        <p:spPr/>
        <p:txBody>
          <a:bodyPr>
            <a:normAutofit fontScale="62000" lnSpcReduction="20000"/>
          </a:bodyPr>
          <a:lstStyle/>
          <a:p>
            <a:r>
              <a:rPr lang="zh-TW" altLang="en-US"/>
              <a:t>線形制御理論</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62000" lnSpcReduction="20000"/>
          </a:bodyPr>
          <a:lstStyle/>
          <a:p>
            <a:pPr marL="0" lvl="0" indent="0">
              <a:buNone/>
            </a:pPr>
            <a:r>
              <a:t>3.2 連続時間コントローラの離散化</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62000" lnSpcReduction="20000"/>
              </a:bodyPr>
              <a:lstStyle/>
              <a:p>
                <a:pPr marL="0" lvl="0" indent="0">
                  <a:buNone/>
                </a:pPr>
                <a:r>
                  <a:t>ここで連続系の制御則</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𝑢</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1</m:t>
                          </m:r>
                        </m:sub>
                      </m:sSub>
                      <m:r>
                        <a:rPr>
                          <a:latin typeface="Cambria Math" panose="02040503050406030204" pitchFamily="18" charset="0"/>
                        </a:rPr>
                        <m:t>𝑦</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2</m:t>
                          </m:r>
                        </m:sub>
                      </m:sSub>
                      <m:f>
                        <m:fPr>
                          <m:ctrlPr>
                            <a:rPr i="1">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𝑑𝑡</m:t>
                          </m:r>
                        </m:den>
                      </m:f>
                    </m:oMath>
                  </m:oMathPara>
                </a14:m>
                <a:endParaRPr/>
              </a:p>
              <a:p>
                <a:pPr marL="0" lvl="0" indent="0">
                  <a:buNone/>
                </a:pPr>
                <a:r>
                  <a:t>に対して離散系の制御則として次の状態フィードバックを用いることを考える．</a:t>
                </a:r>
              </a:p>
              <a:p>
                <a:pPr marL="0" lvl="0" indent="0">
                  <a:buNone/>
                </a:pPr>
                <a14:m>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𝑘</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1</m:t>
                          </m:r>
                        </m:sub>
                      </m:sSub>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𝑘𝑇</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2</m:t>
                          </m:r>
                        </m:sub>
                      </m:sSub>
                      <m:sSub>
                        <m:sSubPr>
                          <m:ctrlPr>
                            <a:rPr i="1">
                              <a:latin typeface="Cambria Math" panose="02040503050406030204" pitchFamily="18" charset="0"/>
                            </a:rPr>
                          </m:ctrlPr>
                        </m:sSubPr>
                        <m:e>
                          <m:d>
                            <m:dPr>
                              <m:begChr m:val=""/>
                              <m:endChr m:val="|"/>
                              <m:ctrlPr>
                                <a:rPr i="1">
                                  <a:latin typeface="Cambria Math" panose="02040503050406030204" pitchFamily="18" charset="0"/>
                                </a:rPr>
                              </m:ctrlPr>
                            </m:dPr>
                            <m:e>
                              <m:f>
                                <m:fPr>
                                  <m:ctrlPr>
                                    <a:rPr i="1">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𝑑𝑡</m:t>
                                  </m:r>
                                </m:den>
                              </m:f>
                            </m:e>
                          </m:d>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𝑘𝑇</m:t>
                          </m:r>
                        </m:sub>
                      </m:sSub>
                    </m:oMath>
                  </m:oMathPara>
                </a14:m>
                <a:endParaRPr/>
              </a:p>
              <a:p>
                <a:pPr marL="0" lvl="0" indent="0">
                  <a:buNone/>
                </a:pPr>
                <a:r>
                  <a:t>このときは</a:t>
                </a: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𝑑𝑡</m:t>
                        </m:r>
                      </m:den>
                    </m:f>
                  </m:oMath>
                </a14:m>
                <a:r>
                  <a:t>を</a:t>
                </a:r>
              </a:p>
              <a:p>
                <a:pPr marL="0" lvl="0" indent="0">
                  <a:buNone/>
                </a:pPr>
                <a14:m>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d>
                            <m:dPr>
                              <m:begChr m:val=""/>
                              <m:endChr m:val="|"/>
                              <m:ctrlPr>
                                <a:rPr>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𝑑𝑡</m:t>
                                  </m:r>
                                </m:den>
                              </m:f>
                            </m:e>
                          </m:d>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𝑘𝑇</m:t>
                          </m:r>
                        </m:sub>
                      </m:sSub>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𝑘</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𝑘</m:t>
                              </m:r>
                              <m:r>
                                <a:rPr>
                                  <a:latin typeface="Cambria Math" panose="02040503050406030204" pitchFamily="18" charset="0"/>
                                </a:rPr>
                                <m:t>−1</m:t>
                              </m:r>
                            </m:sub>
                          </m:sSub>
                        </m:num>
                        <m:den>
                          <m:r>
                            <a:rPr>
                              <a:latin typeface="Cambria Math" panose="02040503050406030204" pitchFamily="18" charset="0"/>
                            </a:rPr>
                            <m:t>𝑇</m:t>
                          </m:r>
                        </m:den>
                      </m:f>
                    </m:oMath>
                  </m:oMathPara>
                </a14:m>
                <a:endParaRPr/>
              </a:p>
              <a:p>
                <a:pPr marL="0" lvl="0" indent="0">
                  <a:buNone/>
                </a:pPr>
                <a:r>
                  <a:t>で近似すれば状態観測器を用いることなく状態フィードバックをすることが可能．</a:t>
                </a:r>
                <a:br/>
                <a:r>
                  <a:t>出力の観測に雑音が多い場合には連続系の近似微分器</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𝐺</m:t>
                        </m:r>
                      </m:e>
                      <m:sub>
                        <m:r>
                          <a:rPr>
                            <a:latin typeface="Cambria Math" panose="02040503050406030204" pitchFamily="18" charset="0"/>
                          </a:rPr>
                          <m:t>𝑑</m:t>
                        </m:r>
                      </m:sub>
                    </m:sSub>
                    <m:r>
                      <a:rPr>
                        <a:latin typeface="Cambria Math" panose="02040503050406030204" pitchFamily="18" charset="0"/>
                      </a:rPr>
                      <m:t>(</m:t>
                    </m:r>
                    <m:r>
                      <a:rPr>
                        <a:latin typeface="Cambria Math" panose="02040503050406030204" pitchFamily="18" charset="0"/>
                      </a:rPr>
                      <m:t>𝑠</m:t>
                    </m:r>
                    <m:r>
                      <a:rPr>
                        <a:latin typeface="Cambria Math" panose="02040503050406030204" pitchFamily="18" charset="0"/>
                      </a:rPr>
                      <m:t>)</m:t>
                    </m:r>
                  </m:oMath>
                </a14:m>
                <a:endParaRPr/>
              </a:p>
              <a:p>
                <a:pPr marL="0" lvl="0" indent="0">
                  <a:buNone/>
                </a:pPr>
                <a14:m>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𝐺</m:t>
                          </m:r>
                        </m:e>
                        <m:sub>
                          <m:r>
                            <a:rPr>
                              <a:latin typeface="Cambria Math" panose="02040503050406030204" pitchFamily="18" charset="0"/>
                            </a:rPr>
                            <m:t>𝑑</m:t>
                          </m:r>
                        </m:sub>
                      </m:sSub>
                      <m:r>
                        <a:rPr>
                          <a:latin typeface="Cambria Math" panose="02040503050406030204" pitchFamily="18" charset="0"/>
                        </a:rPr>
                        <m:t>(</m:t>
                      </m:r>
                      <m:r>
                        <a:rPr>
                          <a:latin typeface="Cambria Math" panose="02040503050406030204" pitchFamily="18" charset="0"/>
                        </a:rPr>
                        <m:t>𝑠</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𝑠</m:t>
                          </m:r>
                        </m:num>
                        <m:den>
                          <m:r>
                            <a:rPr>
                              <a:latin typeface="Cambria Math" panose="02040503050406030204" pitchFamily="18" charset="0"/>
                            </a:rPr>
                            <m:t>𝑇𝑠</m:t>
                          </m:r>
                          <m:r>
                            <a:rPr>
                              <a:latin typeface="Cambria Math" panose="02040503050406030204" pitchFamily="18" charset="0"/>
                            </a:rPr>
                            <m:t>+1</m:t>
                          </m:r>
                        </m:den>
                      </m:f>
                    </m:oMath>
                  </m:oMathPara>
                </a14:m>
                <a:endParaRPr/>
              </a:p>
              <a:p>
                <a:pPr marL="0" lvl="0" indent="0">
                  <a:buNone/>
                </a:pPr>
                <a:r>
                  <a:t>を離散化したものを用いて出力を近似微分した方が良い．</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76" t="-2124"/>
                </a:stretch>
              </a:blipFill>
            </p:spPr>
            <p:txBody>
              <a:bodyPr>
                <a:normAutofit fontScale="62000" lnSpcReduction="20000"/>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0CAD807D-6D75-5C39-EA0A-C3011F85876F}"/>
              </a:ext>
            </a:extLst>
          </p:cNvPr>
          <p:cNvSpPr>
            <a:spLocks noGrp="1"/>
          </p:cNvSpPr>
          <p:nvPr>
            <p:ph type="dt" sz="half" idx="10"/>
          </p:nvPr>
        </p:nvSpPr>
        <p:spPr/>
        <p:txBody>
          <a:bodyPr>
            <a:normAutofit fontScale="62000" lnSpcReduction="20000"/>
          </a:bodyPr>
          <a:lstStyle/>
          <a:p>
            <a:fld id="{BCE4E8C5-27CE-4FBE-8747-A8F10666D103}" type="datetime1">
              <a:rPr lang="en-US" altLang="ja-JP" smtClean="0"/>
              <a:t>4/13/2026</a:t>
            </a:fld>
            <a:endParaRPr lang="en-US"/>
          </a:p>
        </p:txBody>
      </p:sp>
      <p:sp>
        <p:nvSpPr>
          <p:cNvPr id="6" name="スライド番号プレースホルダー 5">
            <a:extLst>
              <a:ext uri="{FF2B5EF4-FFF2-40B4-BE49-F238E27FC236}">
                <a16:creationId xmlns:a16="http://schemas.microsoft.com/office/drawing/2014/main" id="{3B270505-0175-A7F9-958D-EB0A818825D0}"/>
              </a:ext>
            </a:extLst>
          </p:cNvPr>
          <p:cNvSpPr>
            <a:spLocks noGrp="1"/>
          </p:cNvSpPr>
          <p:nvPr>
            <p:ph type="sldNum" sz="quarter" idx="12"/>
          </p:nvPr>
        </p:nvSpPr>
        <p:spPr/>
        <p:txBody>
          <a:bodyPr>
            <a:normAutofit fontScale="62000" lnSpcReduction="20000"/>
          </a:bodyPr>
          <a:lstStyle/>
          <a:p>
            <a:fld id="{C5EF2332-01BF-834F-8236-50238282D533}" type="slidenum">
              <a:rPr lang="en-US" smtClean="0"/>
              <a:t>6</a:t>
            </a:fld>
            <a:endParaRPr lang="en-US"/>
          </a:p>
        </p:txBody>
      </p:sp>
      <p:sp>
        <p:nvSpPr>
          <p:cNvPr id="7" name="フッター プレースホルダー 6">
            <a:extLst>
              <a:ext uri="{FF2B5EF4-FFF2-40B4-BE49-F238E27FC236}">
                <a16:creationId xmlns:a16="http://schemas.microsoft.com/office/drawing/2014/main" id="{00CD2011-7F40-3531-34E3-81AB6D3FA730}"/>
              </a:ext>
            </a:extLst>
          </p:cNvPr>
          <p:cNvSpPr>
            <a:spLocks noGrp="1"/>
          </p:cNvSpPr>
          <p:nvPr>
            <p:ph type="ftr" sz="quarter" idx="11"/>
          </p:nvPr>
        </p:nvSpPr>
        <p:spPr/>
        <p:txBody>
          <a:bodyPr>
            <a:normAutofit fontScale="62000" lnSpcReduction="20000"/>
          </a:bodyPr>
          <a:lstStyle/>
          <a:p>
            <a:r>
              <a:rPr lang="zh-TW" altLang="en-US"/>
              <a:t>線形制御理論</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62000" lnSpcReduction="20000"/>
          </a:bodyPr>
          <a:lstStyle/>
          <a:p>
            <a:pPr marL="0" lvl="0" indent="0">
              <a:buNone/>
            </a:pPr>
            <a:r>
              <a:t>3.2 連続時間コントローラの離散化</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62000" lnSpcReduction="20000"/>
              </a:bodyPr>
              <a:lstStyle/>
              <a:p>
                <a:pPr marL="0" lvl="0" indent="0">
                  <a:buNone/>
                </a:pPr>
                <a:r>
                  <a:t>いままで述べた連続時間コントローラの離散化は， あくまでサンプリングインターバル</a:t>
                </a:r>
                <a14:m>
                  <m:oMath xmlns:m="http://schemas.openxmlformats.org/officeDocument/2006/math">
                    <m:r>
                      <a:rPr>
                        <a:latin typeface="Cambria Math" panose="02040503050406030204" pitchFamily="18" charset="0"/>
                      </a:rPr>
                      <m:t>𝑇</m:t>
                    </m:r>
                  </m:oMath>
                </a14:m>
                <a:r>
                  <a:t>が十分小さいとして連続時間コントローラをディジタル計算機上で実現するものであった．</a:t>
                </a:r>
              </a:p>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m:t>
                      </m:r>
                    </m:oMath>
                  </m:oMathPara>
                </a14:m>
                <a:endParaRPr/>
              </a:p>
              <a:p>
                <a:pPr marL="0" lvl="0" indent="0">
                  <a:buNone/>
                </a:pPr>
                <a:r>
                  <a:t>サンプリングインターバルが長いと，連続時間コントローラと同等の性能が得られない場合がある．</a:t>
                </a:r>
              </a:p>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m:t>
                      </m:r>
                    </m:oMath>
                  </m:oMathPara>
                </a14:m>
                <a:endParaRPr/>
              </a:p>
              <a:p>
                <a:pPr marL="0" lvl="0" indent="0">
                  <a:buNone/>
                </a:pPr>
                <a:r>
                  <a:t>何らかの意味でディジタルコントローラの性能が連続時間コントローラの性能に近付くように，コントローラの離散化を工夫するディジタル再設計の問題 を考える必要がある．</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8" t="-1821" r="-408"/>
                </a:stretch>
              </a:blipFill>
            </p:spPr>
            <p:txBody>
              <a:bodyPr>
                <a:normAutofit fontScale="62000" lnSpcReduction="20000"/>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B3AA4237-198F-EEC4-525F-EA653515AACC}"/>
              </a:ext>
            </a:extLst>
          </p:cNvPr>
          <p:cNvSpPr>
            <a:spLocks noGrp="1"/>
          </p:cNvSpPr>
          <p:nvPr>
            <p:ph type="dt" sz="half" idx="10"/>
          </p:nvPr>
        </p:nvSpPr>
        <p:spPr/>
        <p:txBody>
          <a:bodyPr>
            <a:normAutofit fontScale="62000" lnSpcReduction="20000"/>
          </a:bodyPr>
          <a:lstStyle/>
          <a:p>
            <a:fld id="{C9F0DB7A-E9D2-45A3-8610-615E25CF820B}" type="datetime1">
              <a:rPr lang="en-US" altLang="ja-JP" smtClean="0"/>
              <a:t>4/13/2026</a:t>
            </a:fld>
            <a:endParaRPr lang="en-US"/>
          </a:p>
        </p:txBody>
      </p:sp>
      <p:sp>
        <p:nvSpPr>
          <p:cNvPr id="6" name="スライド番号プレースホルダー 5">
            <a:extLst>
              <a:ext uri="{FF2B5EF4-FFF2-40B4-BE49-F238E27FC236}">
                <a16:creationId xmlns:a16="http://schemas.microsoft.com/office/drawing/2014/main" id="{6F87945B-0D14-32AD-8647-8CEDEC319DFE}"/>
              </a:ext>
            </a:extLst>
          </p:cNvPr>
          <p:cNvSpPr>
            <a:spLocks noGrp="1"/>
          </p:cNvSpPr>
          <p:nvPr>
            <p:ph type="sldNum" sz="quarter" idx="12"/>
          </p:nvPr>
        </p:nvSpPr>
        <p:spPr/>
        <p:txBody>
          <a:bodyPr>
            <a:normAutofit fontScale="62000" lnSpcReduction="20000"/>
          </a:bodyPr>
          <a:lstStyle/>
          <a:p>
            <a:fld id="{C5EF2332-01BF-834F-8236-50238282D533}" type="slidenum">
              <a:rPr lang="en-US" smtClean="0"/>
              <a:t>7</a:t>
            </a:fld>
            <a:endParaRPr lang="en-US"/>
          </a:p>
        </p:txBody>
      </p:sp>
      <p:sp>
        <p:nvSpPr>
          <p:cNvPr id="7" name="フッター プレースホルダー 6">
            <a:extLst>
              <a:ext uri="{FF2B5EF4-FFF2-40B4-BE49-F238E27FC236}">
                <a16:creationId xmlns:a16="http://schemas.microsoft.com/office/drawing/2014/main" id="{9FCC6CC7-EF22-DAE6-E2FB-73EE16EB08D4}"/>
              </a:ext>
            </a:extLst>
          </p:cNvPr>
          <p:cNvSpPr>
            <a:spLocks noGrp="1"/>
          </p:cNvSpPr>
          <p:nvPr>
            <p:ph type="ftr" sz="quarter" idx="11"/>
          </p:nvPr>
        </p:nvSpPr>
        <p:spPr/>
        <p:txBody>
          <a:bodyPr>
            <a:normAutofit fontScale="62000" lnSpcReduction="20000"/>
          </a:bodyPr>
          <a:lstStyle/>
          <a:p>
            <a:r>
              <a:rPr lang="zh-TW" altLang="en-US"/>
              <a:t>線形制御理論</a:t>
            </a:r>
            <a:endParaRPr lang="en-US" dirty="0"/>
          </a:p>
        </p:txBody>
      </p:sp>
    </p:spTree>
  </p:cSld>
  <p:clrMapOvr>
    <a:masterClrMapping/>
  </p:clrMapOvr>
</p:sld>
</file>

<file path=ppt/theme/theme1.xml><?xml version="1.0" encoding="utf-8"?>
<a:theme xmlns:a="http://schemas.openxmlformats.org/drawingml/2006/main" name="Office Theme">
  <a:themeElements>
    <a:clrScheme name="暖かみのある青">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286</Words>
  <Application>Microsoft Office PowerPoint</Application>
  <PresentationFormat>画面に合わせる (16:9)</PresentationFormat>
  <Paragraphs>68</Paragraphs>
  <Slides>7</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BIZ UDPゴシック</vt:lpstr>
      <vt:lpstr>游ゴシック</vt:lpstr>
      <vt:lpstr>Arial</vt:lpstr>
      <vt:lpstr>Calibri</vt:lpstr>
      <vt:lpstr>Cambria Math</vt:lpstr>
      <vt:lpstr>Office Theme</vt:lpstr>
      <vt:lpstr>3.1 状態方程式の離散化</vt:lpstr>
      <vt:lpstr>3.1 状態方程式の離散化</vt:lpstr>
      <vt:lpstr>3.1 状態方程式の離散化</vt:lpstr>
      <vt:lpstr>3.1 状態方程式の離散化</vt:lpstr>
      <vt:lpstr>3.2 連続時間コントローラの離散化</vt:lpstr>
      <vt:lpstr>3.2 連続時間コントローラの離散化</vt:lpstr>
      <vt:lpstr>3.2 連続時間コントローラの離散化</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SEKIGUCHI Kazuma</cp:lastModifiedBy>
  <cp:revision>6</cp:revision>
  <dcterms:created xsi:type="dcterms:W3CDTF">2026-04-13T03:59:10Z</dcterms:created>
  <dcterms:modified xsi:type="dcterms:W3CDTF">2026-04-13T04:14:37Z</dcterms:modified>
</cp:coreProperties>
</file>